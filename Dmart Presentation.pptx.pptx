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Arimo" charset="1" panose="020B06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087100" y="0"/>
            <a:ext cx="7200900" cy="10287000"/>
            <a:chOff x="0" y="0"/>
            <a:chExt cx="9601200" cy="13716000"/>
          </a:xfrm>
        </p:grpSpPr>
        <p:sp>
          <p:nvSpPr>
            <p:cNvPr name="Freeform 9" id="9"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3317977"/>
            <a:ext cx="9445523" cy="2715073"/>
          </a:xfrm>
          <a:prstGeom prst="rect">
            <a:avLst/>
          </a:prstGeom>
        </p:spPr>
        <p:txBody>
          <a:bodyPr anchor="t" rtlCol="false" tIns="0" lIns="0" bIns="0" rIns="0">
            <a:spAutoFit/>
          </a:bodyPr>
          <a:lstStyle/>
          <a:p>
            <a:pPr algn="l">
              <a:lnSpc>
                <a:spcPts val="6937"/>
              </a:lnSpc>
            </a:pPr>
            <a:r>
              <a:rPr lang="en-US" sz="5562" b="true">
                <a:solidFill>
                  <a:srgbClr val="403011"/>
                </a:solidFill>
                <a:latin typeface="Arimo Bold"/>
                <a:ea typeface="Arimo Bold"/>
                <a:cs typeface="Arimo Bold"/>
                <a:sym typeface="Arimo Bold"/>
              </a:rPr>
              <a:t>D-Mart Business Performance Analysis 2021-2023</a:t>
            </a:r>
          </a:p>
        </p:txBody>
      </p:sp>
      <p:sp>
        <p:nvSpPr>
          <p:cNvPr name="TextBox 11" id="11"/>
          <p:cNvSpPr txBox="true"/>
          <p:nvPr/>
        </p:nvSpPr>
        <p:spPr>
          <a:xfrm rot="0">
            <a:off x="992238" y="6353470"/>
            <a:ext cx="9445523" cy="558403"/>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Strategic insights and growth opportunities for Senior Management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992238" y="1677886"/>
            <a:ext cx="3544043"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About This Analysis</a:t>
            </a:r>
          </a:p>
        </p:txBody>
      </p:sp>
      <p:sp>
        <p:nvSpPr>
          <p:cNvPr name="TextBox 7" id="7"/>
          <p:cNvSpPr txBox="true"/>
          <p:nvPr/>
        </p:nvSpPr>
        <p:spPr>
          <a:xfrm rot="0">
            <a:off x="992238" y="2621166"/>
            <a:ext cx="16303523" cy="1465659"/>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This presentation examines D-Mart's comprehensive business performance across 2021-2023, analysing key metrics including revenue trends, geographic distribution, customer behaviour, and product performance. Our objective is to identify strategic growth opportunities and provide actionable recommendations to drive the next phase of expansion.</a:t>
            </a:r>
          </a:p>
        </p:txBody>
      </p:sp>
      <p:sp>
        <p:nvSpPr>
          <p:cNvPr name="TextBox 8" id="8"/>
          <p:cNvSpPr txBox="true"/>
          <p:nvPr/>
        </p:nvSpPr>
        <p:spPr>
          <a:xfrm rot="0">
            <a:off x="992238" y="4300985"/>
            <a:ext cx="283521" cy="459134"/>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01</a:t>
            </a:r>
          </a:p>
        </p:txBody>
      </p:sp>
      <p:grpSp>
        <p:nvGrpSpPr>
          <p:cNvPr name="Group 9" id="9"/>
          <p:cNvGrpSpPr/>
          <p:nvPr/>
        </p:nvGrpSpPr>
        <p:grpSpPr>
          <a:xfrm rot="0">
            <a:off x="992238" y="4849568"/>
            <a:ext cx="8009934" cy="38100"/>
            <a:chOff x="0" y="0"/>
            <a:chExt cx="10679913" cy="50800"/>
          </a:xfrm>
        </p:grpSpPr>
        <p:sp>
          <p:nvSpPr>
            <p:cNvPr name="Freeform 10" id="10"/>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close/>
                </a:path>
              </a:pathLst>
            </a:custGeom>
            <a:solidFill>
              <a:srgbClr val="626C3B"/>
            </a:solidFill>
          </p:spPr>
        </p:sp>
      </p:grpSp>
      <p:sp>
        <p:nvSpPr>
          <p:cNvPr name="TextBox 11" id="11"/>
          <p:cNvSpPr txBox="true"/>
          <p:nvPr/>
        </p:nvSpPr>
        <p:spPr>
          <a:xfrm rot="0">
            <a:off x="992238" y="5029352"/>
            <a:ext cx="3544043"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Performance Review</a:t>
            </a:r>
          </a:p>
        </p:txBody>
      </p:sp>
      <p:sp>
        <p:nvSpPr>
          <p:cNvPr name="TextBox 12" id="12"/>
          <p:cNvSpPr txBox="true"/>
          <p:nvPr/>
        </p:nvSpPr>
        <p:spPr>
          <a:xfrm rot="0">
            <a:off x="992238" y="5575697"/>
            <a:ext cx="8009934" cy="558403"/>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Comprehensive analysis of core business metrics</a:t>
            </a:r>
          </a:p>
        </p:txBody>
      </p:sp>
      <p:sp>
        <p:nvSpPr>
          <p:cNvPr name="TextBox 13" id="13"/>
          <p:cNvSpPr txBox="true"/>
          <p:nvPr/>
        </p:nvSpPr>
        <p:spPr>
          <a:xfrm rot="0">
            <a:off x="9285684" y="4300985"/>
            <a:ext cx="283521" cy="459134"/>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02</a:t>
            </a:r>
          </a:p>
        </p:txBody>
      </p:sp>
      <p:grpSp>
        <p:nvGrpSpPr>
          <p:cNvPr name="Group 14" id="14"/>
          <p:cNvGrpSpPr/>
          <p:nvPr/>
        </p:nvGrpSpPr>
        <p:grpSpPr>
          <a:xfrm rot="0">
            <a:off x="9285684" y="4849568"/>
            <a:ext cx="8010077" cy="38100"/>
            <a:chOff x="0" y="0"/>
            <a:chExt cx="10680103" cy="50800"/>
          </a:xfrm>
        </p:grpSpPr>
        <p:sp>
          <p:nvSpPr>
            <p:cNvPr name="Freeform 15" id="15"/>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close/>
                </a:path>
              </a:pathLst>
            </a:custGeom>
            <a:solidFill>
              <a:srgbClr val="83792E"/>
            </a:solidFill>
          </p:spPr>
        </p:sp>
      </p:grpSp>
      <p:sp>
        <p:nvSpPr>
          <p:cNvPr name="TextBox 16" id="16"/>
          <p:cNvSpPr txBox="true"/>
          <p:nvPr/>
        </p:nvSpPr>
        <p:spPr>
          <a:xfrm rot="0">
            <a:off x="9285684" y="5029352"/>
            <a:ext cx="3544043"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Geographic Insights</a:t>
            </a:r>
          </a:p>
        </p:txBody>
      </p:sp>
      <p:sp>
        <p:nvSpPr>
          <p:cNvPr name="TextBox 17" id="17"/>
          <p:cNvSpPr txBox="true"/>
          <p:nvPr/>
        </p:nvSpPr>
        <p:spPr>
          <a:xfrm rot="0">
            <a:off x="9285684" y="5575697"/>
            <a:ext cx="8010077" cy="558403"/>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Regional opportunities and expansion potential</a:t>
            </a:r>
          </a:p>
        </p:txBody>
      </p:sp>
      <p:sp>
        <p:nvSpPr>
          <p:cNvPr name="TextBox 18" id="18"/>
          <p:cNvSpPr txBox="true"/>
          <p:nvPr/>
        </p:nvSpPr>
        <p:spPr>
          <a:xfrm rot="0">
            <a:off x="992238" y="6525368"/>
            <a:ext cx="283521" cy="459134"/>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03</a:t>
            </a:r>
          </a:p>
        </p:txBody>
      </p:sp>
      <p:grpSp>
        <p:nvGrpSpPr>
          <p:cNvPr name="Group 19" id="19"/>
          <p:cNvGrpSpPr/>
          <p:nvPr/>
        </p:nvGrpSpPr>
        <p:grpSpPr>
          <a:xfrm rot="0">
            <a:off x="992238" y="7073951"/>
            <a:ext cx="8009934" cy="38100"/>
            <a:chOff x="0" y="0"/>
            <a:chExt cx="10679913" cy="50800"/>
          </a:xfrm>
        </p:grpSpPr>
        <p:sp>
          <p:nvSpPr>
            <p:cNvPr name="Freeform 20" id="20"/>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close/>
                </a:path>
              </a:pathLst>
            </a:custGeom>
            <a:solidFill>
              <a:srgbClr val="E8AF3B"/>
            </a:solidFill>
          </p:spPr>
        </p:sp>
      </p:grpSp>
      <p:sp>
        <p:nvSpPr>
          <p:cNvPr name="TextBox 21" id="21"/>
          <p:cNvSpPr txBox="true"/>
          <p:nvPr/>
        </p:nvSpPr>
        <p:spPr>
          <a:xfrm rot="0">
            <a:off x="992238" y="7253735"/>
            <a:ext cx="3544043"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Customer &amp; Product</a:t>
            </a:r>
          </a:p>
        </p:txBody>
      </p:sp>
      <p:sp>
        <p:nvSpPr>
          <p:cNvPr name="TextBox 22" id="22"/>
          <p:cNvSpPr txBox="true"/>
          <p:nvPr/>
        </p:nvSpPr>
        <p:spPr>
          <a:xfrm rot="0">
            <a:off x="992238" y="7800080"/>
            <a:ext cx="8009934" cy="558403"/>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Experience optimisation and top performers</a:t>
            </a:r>
          </a:p>
        </p:txBody>
      </p:sp>
      <p:sp>
        <p:nvSpPr>
          <p:cNvPr name="TextBox 23" id="23"/>
          <p:cNvSpPr txBox="true"/>
          <p:nvPr/>
        </p:nvSpPr>
        <p:spPr>
          <a:xfrm rot="0">
            <a:off x="9285684" y="6525368"/>
            <a:ext cx="283521" cy="459134"/>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04</a:t>
            </a:r>
          </a:p>
        </p:txBody>
      </p:sp>
      <p:grpSp>
        <p:nvGrpSpPr>
          <p:cNvPr name="Group 24" id="24"/>
          <p:cNvGrpSpPr/>
          <p:nvPr/>
        </p:nvGrpSpPr>
        <p:grpSpPr>
          <a:xfrm rot="0">
            <a:off x="9285684" y="7073951"/>
            <a:ext cx="8010077" cy="38100"/>
            <a:chOff x="0" y="0"/>
            <a:chExt cx="10680103" cy="50800"/>
          </a:xfrm>
        </p:grpSpPr>
        <p:sp>
          <p:nvSpPr>
            <p:cNvPr name="Freeform 25" id="25"/>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close/>
                </a:path>
              </a:pathLst>
            </a:custGeom>
            <a:solidFill>
              <a:srgbClr val="CC914D"/>
            </a:solidFill>
          </p:spPr>
        </p:sp>
      </p:grpSp>
      <p:sp>
        <p:nvSpPr>
          <p:cNvPr name="TextBox 26" id="26"/>
          <p:cNvSpPr txBox="true"/>
          <p:nvPr/>
        </p:nvSpPr>
        <p:spPr>
          <a:xfrm rot="0">
            <a:off x="9285684" y="7253735"/>
            <a:ext cx="3544043"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Strategic Actions</a:t>
            </a:r>
          </a:p>
        </p:txBody>
      </p:sp>
      <p:sp>
        <p:nvSpPr>
          <p:cNvPr name="TextBox 27" id="27"/>
          <p:cNvSpPr txBox="true"/>
          <p:nvPr/>
        </p:nvSpPr>
        <p:spPr>
          <a:xfrm rot="0">
            <a:off x="9285684" y="7800080"/>
            <a:ext cx="8010077" cy="558403"/>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Data-driven recommendations for growth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087100" y="0"/>
            <a:ext cx="7200900" cy="10287000"/>
            <a:chOff x="0" y="0"/>
            <a:chExt cx="9601200" cy="13716000"/>
          </a:xfrm>
        </p:grpSpPr>
        <p:sp>
          <p:nvSpPr>
            <p:cNvPr name="Freeform 9" id="9"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2114998"/>
            <a:ext cx="9424540" cy="943127"/>
          </a:xfrm>
          <a:prstGeom prst="rect">
            <a:avLst/>
          </a:prstGeom>
        </p:spPr>
        <p:txBody>
          <a:bodyPr anchor="t" rtlCol="false" tIns="0" lIns="0" bIns="0" rIns="0">
            <a:spAutoFit/>
          </a:bodyPr>
          <a:lstStyle/>
          <a:p>
            <a:pPr algn="l">
              <a:lnSpc>
                <a:spcPts val="6937"/>
              </a:lnSpc>
            </a:pPr>
            <a:r>
              <a:rPr lang="en-US" sz="5562" b="true">
                <a:solidFill>
                  <a:srgbClr val="403011"/>
                </a:solidFill>
                <a:latin typeface="Arimo Bold"/>
                <a:ea typeface="Arimo Bold"/>
                <a:cs typeface="Arimo Bold"/>
                <a:sym typeface="Arimo Bold"/>
              </a:rPr>
              <a:t>Key Performance Highlights</a:t>
            </a:r>
          </a:p>
        </p:txBody>
      </p:sp>
      <p:sp>
        <p:nvSpPr>
          <p:cNvPr name="TextBox 11" id="11"/>
          <p:cNvSpPr txBox="true"/>
          <p:nvPr/>
        </p:nvSpPr>
        <p:spPr>
          <a:xfrm rot="0">
            <a:off x="992238" y="3378546"/>
            <a:ext cx="9445523" cy="1012031"/>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Strong foundation across all major business metrics demonstrates D-Mart's market positioning and customer reach.</a:t>
            </a:r>
          </a:p>
        </p:txBody>
      </p:sp>
      <p:sp>
        <p:nvSpPr>
          <p:cNvPr name="TextBox 12" id="12"/>
          <p:cNvSpPr txBox="true"/>
          <p:nvPr/>
        </p:nvSpPr>
        <p:spPr>
          <a:xfrm rot="0">
            <a:off x="992238" y="4955972"/>
            <a:ext cx="2912269" cy="830761"/>
          </a:xfrm>
          <a:prstGeom prst="rect">
            <a:avLst/>
          </a:prstGeom>
        </p:spPr>
        <p:txBody>
          <a:bodyPr anchor="t" rtlCol="false" tIns="0" lIns="0" bIns="0" rIns="0">
            <a:spAutoFit/>
          </a:bodyPr>
          <a:lstStyle/>
          <a:p>
            <a:pPr algn="ctr">
              <a:lnSpc>
                <a:spcPts val="7312"/>
              </a:lnSpc>
            </a:pPr>
            <a:r>
              <a:rPr lang="en-US" sz="7312" b="true">
                <a:solidFill>
                  <a:srgbClr val="403011"/>
                </a:solidFill>
                <a:latin typeface="Arimo Bold"/>
                <a:ea typeface="Arimo Bold"/>
                <a:cs typeface="Arimo Bold"/>
                <a:sym typeface="Arimo Bold"/>
              </a:rPr>
              <a:t>₹17M</a:t>
            </a:r>
          </a:p>
        </p:txBody>
      </p:sp>
      <p:sp>
        <p:nvSpPr>
          <p:cNvPr name="TextBox 13" id="13"/>
          <p:cNvSpPr txBox="true"/>
          <p:nvPr/>
        </p:nvSpPr>
        <p:spPr>
          <a:xfrm rot="0">
            <a:off x="992238" y="6102848"/>
            <a:ext cx="2912269" cy="481012"/>
          </a:xfrm>
          <a:prstGeom prst="rect">
            <a:avLst/>
          </a:prstGeom>
        </p:spPr>
        <p:txBody>
          <a:bodyPr anchor="t" rtlCol="false" tIns="0" lIns="0" bIns="0" rIns="0">
            <a:spAutoFit/>
          </a:bodyPr>
          <a:lstStyle/>
          <a:p>
            <a:pPr algn="ctr">
              <a:lnSpc>
                <a:spcPts val="3437"/>
              </a:lnSpc>
            </a:pPr>
            <a:r>
              <a:rPr lang="en-US" sz="2750" b="true">
                <a:solidFill>
                  <a:srgbClr val="403011"/>
                </a:solidFill>
                <a:latin typeface="Arimo Bold"/>
                <a:ea typeface="Arimo Bold"/>
                <a:cs typeface="Arimo Bold"/>
                <a:sym typeface="Arimo Bold"/>
              </a:rPr>
              <a:t>Total Revenue</a:t>
            </a:r>
          </a:p>
        </p:txBody>
      </p:sp>
      <p:sp>
        <p:nvSpPr>
          <p:cNvPr name="TextBox 14" id="14"/>
          <p:cNvSpPr txBox="true"/>
          <p:nvPr/>
        </p:nvSpPr>
        <p:spPr>
          <a:xfrm rot="0">
            <a:off x="992238" y="6649193"/>
            <a:ext cx="2912269" cy="1465659"/>
          </a:xfrm>
          <a:prstGeom prst="rect">
            <a:avLst/>
          </a:prstGeom>
        </p:spPr>
        <p:txBody>
          <a:bodyPr anchor="t" rtlCol="false" tIns="0" lIns="0" bIns="0" rIns="0">
            <a:spAutoFit/>
          </a:bodyPr>
          <a:lstStyle/>
          <a:p>
            <a:pPr algn="ctr">
              <a:lnSpc>
                <a:spcPts val="3562"/>
              </a:lnSpc>
            </a:pPr>
            <a:r>
              <a:rPr lang="en-US" sz="2187">
                <a:solidFill>
                  <a:srgbClr val="403011"/>
                </a:solidFill>
                <a:latin typeface="Arimo"/>
                <a:ea typeface="Arimo"/>
                <a:cs typeface="Arimo"/>
                <a:sym typeface="Arimo"/>
              </a:rPr>
              <a:t>Cumulative revenue across three-year period</a:t>
            </a:r>
          </a:p>
        </p:txBody>
      </p:sp>
      <p:sp>
        <p:nvSpPr>
          <p:cNvPr name="TextBox 15" id="15"/>
          <p:cNvSpPr txBox="true"/>
          <p:nvPr/>
        </p:nvSpPr>
        <p:spPr>
          <a:xfrm rot="0">
            <a:off x="4258866" y="4955972"/>
            <a:ext cx="2912269" cy="830761"/>
          </a:xfrm>
          <a:prstGeom prst="rect">
            <a:avLst/>
          </a:prstGeom>
        </p:spPr>
        <p:txBody>
          <a:bodyPr anchor="t" rtlCol="false" tIns="0" lIns="0" bIns="0" rIns="0">
            <a:spAutoFit/>
          </a:bodyPr>
          <a:lstStyle/>
          <a:p>
            <a:pPr algn="ctr">
              <a:lnSpc>
                <a:spcPts val="7312"/>
              </a:lnSpc>
            </a:pPr>
            <a:r>
              <a:rPr lang="en-US" sz="7312" b="true">
                <a:solidFill>
                  <a:srgbClr val="403011"/>
                </a:solidFill>
                <a:latin typeface="Arimo Bold"/>
                <a:ea typeface="Arimo Bold"/>
                <a:cs typeface="Arimo Bold"/>
                <a:sym typeface="Arimo Bold"/>
              </a:rPr>
              <a:t>25K</a:t>
            </a:r>
          </a:p>
        </p:txBody>
      </p:sp>
      <p:sp>
        <p:nvSpPr>
          <p:cNvPr name="TextBox 16" id="16"/>
          <p:cNvSpPr txBox="true"/>
          <p:nvPr/>
        </p:nvSpPr>
        <p:spPr>
          <a:xfrm rot="0">
            <a:off x="4258866" y="6102848"/>
            <a:ext cx="2912269" cy="481012"/>
          </a:xfrm>
          <a:prstGeom prst="rect">
            <a:avLst/>
          </a:prstGeom>
        </p:spPr>
        <p:txBody>
          <a:bodyPr anchor="t" rtlCol="false" tIns="0" lIns="0" bIns="0" rIns="0">
            <a:spAutoFit/>
          </a:bodyPr>
          <a:lstStyle/>
          <a:p>
            <a:pPr algn="ctr">
              <a:lnSpc>
                <a:spcPts val="3437"/>
              </a:lnSpc>
            </a:pPr>
            <a:r>
              <a:rPr lang="en-US" sz="2750" b="true">
                <a:solidFill>
                  <a:srgbClr val="403011"/>
                </a:solidFill>
                <a:latin typeface="Arimo Bold"/>
                <a:ea typeface="Arimo Bold"/>
                <a:cs typeface="Arimo Bold"/>
                <a:sym typeface="Arimo Bold"/>
              </a:rPr>
              <a:t>Product Range</a:t>
            </a:r>
          </a:p>
        </p:txBody>
      </p:sp>
      <p:sp>
        <p:nvSpPr>
          <p:cNvPr name="TextBox 17" id="17"/>
          <p:cNvSpPr txBox="true"/>
          <p:nvPr/>
        </p:nvSpPr>
        <p:spPr>
          <a:xfrm rot="0">
            <a:off x="4258866" y="6649193"/>
            <a:ext cx="2912269" cy="1465659"/>
          </a:xfrm>
          <a:prstGeom prst="rect">
            <a:avLst/>
          </a:prstGeom>
        </p:spPr>
        <p:txBody>
          <a:bodyPr anchor="t" rtlCol="false" tIns="0" lIns="0" bIns="0" rIns="0">
            <a:spAutoFit/>
          </a:bodyPr>
          <a:lstStyle/>
          <a:p>
            <a:pPr algn="ctr">
              <a:lnSpc>
                <a:spcPts val="3562"/>
              </a:lnSpc>
            </a:pPr>
            <a:r>
              <a:rPr lang="en-US" sz="2187">
                <a:solidFill>
                  <a:srgbClr val="403011"/>
                </a:solidFill>
                <a:latin typeface="Arimo"/>
                <a:ea typeface="Arimo"/>
                <a:cs typeface="Arimo"/>
                <a:sym typeface="Arimo"/>
              </a:rPr>
              <a:t>Diverse catalogue serving customer needs</a:t>
            </a:r>
          </a:p>
        </p:txBody>
      </p:sp>
      <p:sp>
        <p:nvSpPr>
          <p:cNvPr name="TextBox 18" id="18"/>
          <p:cNvSpPr txBox="true"/>
          <p:nvPr/>
        </p:nvSpPr>
        <p:spPr>
          <a:xfrm rot="0">
            <a:off x="7525493" y="4955972"/>
            <a:ext cx="2912269" cy="830761"/>
          </a:xfrm>
          <a:prstGeom prst="rect">
            <a:avLst/>
          </a:prstGeom>
        </p:spPr>
        <p:txBody>
          <a:bodyPr anchor="t" rtlCol="false" tIns="0" lIns="0" bIns="0" rIns="0">
            <a:spAutoFit/>
          </a:bodyPr>
          <a:lstStyle/>
          <a:p>
            <a:pPr algn="ctr">
              <a:lnSpc>
                <a:spcPts val="7312"/>
              </a:lnSpc>
            </a:pPr>
            <a:r>
              <a:rPr lang="en-US" sz="7312" b="true">
                <a:solidFill>
                  <a:srgbClr val="403011"/>
                </a:solidFill>
                <a:latin typeface="Arimo Bold"/>
                <a:ea typeface="Arimo Bold"/>
                <a:cs typeface="Arimo Bold"/>
                <a:sym typeface="Arimo Bold"/>
              </a:rPr>
              <a:t>1M</a:t>
            </a:r>
          </a:p>
        </p:txBody>
      </p:sp>
      <p:sp>
        <p:nvSpPr>
          <p:cNvPr name="TextBox 19" id="19"/>
          <p:cNvSpPr txBox="true"/>
          <p:nvPr/>
        </p:nvSpPr>
        <p:spPr>
          <a:xfrm rot="0">
            <a:off x="7525493" y="6102848"/>
            <a:ext cx="2912269" cy="481012"/>
          </a:xfrm>
          <a:prstGeom prst="rect">
            <a:avLst/>
          </a:prstGeom>
        </p:spPr>
        <p:txBody>
          <a:bodyPr anchor="t" rtlCol="false" tIns="0" lIns="0" bIns="0" rIns="0">
            <a:spAutoFit/>
          </a:bodyPr>
          <a:lstStyle/>
          <a:p>
            <a:pPr algn="ctr">
              <a:lnSpc>
                <a:spcPts val="3437"/>
              </a:lnSpc>
            </a:pPr>
            <a:r>
              <a:rPr lang="en-US" sz="2750" b="true">
                <a:solidFill>
                  <a:srgbClr val="403011"/>
                </a:solidFill>
                <a:latin typeface="Arimo Bold"/>
                <a:ea typeface="Arimo Bold"/>
                <a:cs typeface="Arimo Bold"/>
                <a:sym typeface="Arimo Bold"/>
              </a:rPr>
              <a:t>Customer Clicks</a:t>
            </a:r>
          </a:p>
        </p:txBody>
      </p:sp>
      <p:sp>
        <p:nvSpPr>
          <p:cNvPr name="TextBox 20" id="20"/>
          <p:cNvSpPr txBox="true"/>
          <p:nvPr/>
        </p:nvSpPr>
        <p:spPr>
          <a:xfrm rot="0">
            <a:off x="7525493" y="6649193"/>
            <a:ext cx="2912269" cy="1465659"/>
          </a:xfrm>
          <a:prstGeom prst="rect">
            <a:avLst/>
          </a:prstGeom>
        </p:spPr>
        <p:txBody>
          <a:bodyPr anchor="t" rtlCol="false" tIns="0" lIns="0" bIns="0" rIns="0">
            <a:spAutoFit/>
          </a:bodyPr>
          <a:lstStyle/>
          <a:p>
            <a:pPr algn="ctr">
              <a:lnSpc>
                <a:spcPts val="3562"/>
              </a:lnSpc>
            </a:pPr>
            <a:r>
              <a:rPr lang="en-US" sz="2187">
                <a:solidFill>
                  <a:srgbClr val="403011"/>
                </a:solidFill>
                <a:latin typeface="Arimo"/>
                <a:ea typeface="Arimo"/>
                <a:cs typeface="Arimo"/>
                <a:sym typeface="Arimo"/>
              </a:rPr>
              <a:t>Strong digital engagement and traffic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798614" y="589359"/>
            <a:ext cx="13203879" cy="751132"/>
          </a:xfrm>
          <a:prstGeom prst="rect">
            <a:avLst/>
          </a:prstGeom>
        </p:spPr>
        <p:txBody>
          <a:bodyPr anchor="t" rtlCol="false" tIns="0" lIns="0" bIns="0" rIns="0">
            <a:spAutoFit/>
          </a:bodyPr>
          <a:lstStyle/>
          <a:p>
            <a:pPr algn="l">
              <a:lnSpc>
                <a:spcPts val="5562"/>
              </a:lnSpc>
            </a:pPr>
            <a:r>
              <a:rPr lang="en-US" sz="4437" b="true">
                <a:solidFill>
                  <a:srgbClr val="403011"/>
                </a:solidFill>
                <a:latin typeface="Arimo Bold"/>
                <a:ea typeface="Arimo Bold"/>
                <a:cs typeface="Arimo Bold"/>
                <a:sym typeface="Arimo Bold"/>
              </a:rPr>
              <a:t>Geographic Opportunities: Top Performing Cities</a:t>
            </a:r>
          </a:p>
        </p:txBody>
      </p:sp>
      <p:sp>
        <p:nvSpPr>
          <p:cNvPr name="TextBox 7" id="7"/>
          <p:cNvSpPr txBox="true"/>
          <p:nvPr/>
        </p:nvSpPr>
        <p:spPr>
          <a:xfrm rot="0">
            <a:off x="798614" y="1882378"/>
            <a:ext cx="3423047" cy="456457"/>
          </a:xfrm>
          <a:prstGeom prst="rect">
            <a:avLst/>
          </a:prstGeom>
        </p:spPr>
        <p:txBody>
          <a:bodyPr anchor="t" rtlCol="false" tIns="0" lIns="0" bIns="0" rIns="0">
            <a:spAutoFit/>
          </a:bodyPr>
          <a:lstStyle/>
          <a:p>
            <a:pPr algn="l">
              <a:lnSpc>
                <a:spcPts val="3312"/>
              </a:lnSpc>
            </a:pPr>
            <a:r>
              <a:rPr lang="en-US" sz="2687" b="true">
                <a:solidFill>
                  <a:srgbClr val="403011"/>
                </a:solidFill>
                <a:latin typeface="Arimo Bold"/>
                <a:ea typeface="Arimo Bold"/>
                <a:cs typeface="Arimo Bold"/>
                <a:sym typeface="Arimo Bold"/>
              </a:rPr>
              <a:t>Leading Markets</a:t>
            </a:r>
          </a:p>
        </p:txBody>
      </p:sp>
      <p:sp>
        <p:nvSpPr>
          <p:cNvPr name="TextBox 8" id="8"/>
          <p:cNvSpPr txBox="true"/>
          <p:nvPr/>
        </p:nvSpPr>
        <p:spPr>
          <a:xfrm rot="0">
            <a:off x="798614" y="2471738"/>
            <a:ext cx="8067084" cy="1190034"/>
          </a:xfrm>
          <a:prstGeom prst="rect">
            <a:avLst/>
          </a:prstGeom>
        </p:spPr>
        <p:txBody>
          <a:bodyPr anchor="t" rtlCol="false" tIns="0" lIns="0" bIns="0" rIns="0">
            <a:spAutoFit/>
          </a:bodyPr>
          <a:lstStyle/>
          <a:p>
            <a:pPr algn="l">
              <a:lnSpc>
                <a:spcPts val="2874"/>
              </a:lnSpc>
            </a:pPr>
            <a:r>
              <a:rPr lang="en-US" sz="1750">
                <a:solidFill>
                  <a:srgbClr val="403011"/>
                </a:solidFill>
                <a:latin typeface="Arimo"/>
                <a:ea typeface="Arimo"/>
                <a:cs typeface="Arimo"/>
                <a:sym typeface="Arimo"/>
              </a:rPr>
              <a:t>Our top three cities demonstrate exceptional performance, collectively driving significant order volumes. These markets represent our strongest customer bases with established brand loyalty and efficient operations.</a:t>
            </a:r>
          </a:p>
        </p:txBody>
      </p:sp>
      <p:sp>
        <p:nvSpPr>
          <p:cNvPr name="TextBox 9" id="9"/>
          <p:cNvSpPr txBox="true"/>
          <p:nvPr/>
        </p:nvSpPr>
        <p:spPr>
          <a:xfrm rot="0">
            <a:off x="798614" y="3771900"/>
            <a:ext cx="8067084" cy="825103"/>
          </a:xfrm>
          <a:prstGeom prst="rect">
            <a:avLst/>
          </a:prstGeom>
        </p:spPr>
        <p:txBody>
          <a:bodyPr anchor="t" rtlCol="false" tIns="0" lIns="0" bIns="0" rIns="0">
            <a:spAutoFit/>
          </a:bodyPr>
          <a:lstStyle/>
          <a:p>
            <a:pPr algn="l">
              <a:lnSpc>
                <a:spcPts val="2874"/>
              </a:lnSpc>
            </a:pPr>
            <a:r>
              <a:rPr lang="en-US" sz="1750" b="true">
                <a:solidFill>
                  <a:srgbClr val="403011"/>
                </a:solidFill>
                <a:latin typeface="Arimo Bold"/>
                <a:ea typeface="Arimo Bold"/>
                <a:cs typeface="Arimo Bold"/>
                <a:sym typeface="Arimo Bold"/>
              </a:rPr>
              <a:t>Strategic Focus:</a:t>
            </a:r>
            <a:r>
              <a:rPr lang="en-US" sz="1750">
                <a:solidFill>
                  <a:srgbClr val="403011"/>
                </a:solidFill>
                <a:latin typeface="Arimo"/>
                <a:ea typeface="Arimo"/>
                <a:cs typeface="Arimo"/>
                <a:sym typeface="Arimo"/>
              </a:rPr>
              <a:t> Continue investment in these regions whilst leveraging their success patterns for expansion strategies.</a:t>
            </a:r>
          </a:p>
        </p:txBody>
      </p:sp>
      <p:grpSp>
        <p:nvGrpSpPr>
          <p:cNvPr name="Group 10" id="10"/>
          <p:cNvGrpSpPr/>
          <p:nvPr/>
        </p:nvGrpSpPr>
        <p:grpSpPr>
          <a:xfrm rot="0">
            <a:off x="9427073" y="1934766"/>
            <a:ext cx="8076609" cy="2347322"/>
            <a:chOff x="0" y="0"/>
            <a:chExt cx="10768813" cy="3129763"/>
          </a:xfrm>
        </p:grpSpPr>
        <p:sp>
          <p:nvSpPr>
            <p:cNvPr name="Freeform 11" id="11"/>
            <p:cNvSpPr/>
            <p:nvPr/>
          </p:nvSpPr>
          <p:spPr>
            <a:xfrm flipH="false" flipV="false" rot="0">
              <a:off x="6350" y="6350"/>
              <a:ext cx="10756011" cy="3117088"/>
            </a:xfrm>
            <a:custGeom>
              <a:avLst/>
              <a:gdLst/>
              <a:ahLst/>
              <a:cxnLst/>
              <a:rect r="r" b="b" t="t" l="l"/>
              <a:pathLst>
                <a:path h="3117088" w="10756011">
                  <a:moveTo>
                    <a:pt x="0" y="456438"/>
                  </a:moveTo>
                  <a:cubicBezTo>
                    <a:pt x="0" y="204343"/>
                    <a:pt x="204978" y="0"/>
                    <a:pt x="457708" y="0"/>
                  </a:cubicBezTo>
                  <a:lnTo>
                    <a:pt x="10298303" y="0"/>
                  </a:lnTo>
                  <a:cubicBezTo>
                    <a:pt x="10551160" y="0"/>
                    <a:pt x="10756011" y="204343"/>
                    <a:pt x="10756011" y="456438"/>
                  </a:cubicBezTo>
                  <a:lnTo>
                    <a:pt x="10756011" y="2660650"/>
                  </a:lnTo>
                  <a:cubicBezTo>
                    <a:pt x="10756011" y="2912745"/>
                    <a:pt x="10551033" y="3117088"/>
                    <a:pt x="10298303" y="3117088"/>
                  </a:cubicBezTo>
                  <a:lnTo>
                    <a:pt x="457708" y="3117088"/>
                  </a:lnTo>
                  <a:cubicBezTo>
                    <a:pt x="204978" y="3117088"/>
                    <a:pt x="0" y="2912745"/>
                    <a:pt x="0" y="2660650"/>
                  </a:cubicBezTo>
                  <a:close/>
                </a:path>
              </a:pathLst>
            </a:custGeom>
            <a:solidFill>
              <a:srgbClr val="626C3B"/>
            </a:solidFill>
          </p:spPr>
        </p:sp>
        <p:sp>
          <p:nvSpPr>
            <p:cNvPr name="Freeform 12" id="12"/>
            <p:cNvSpPr/>
            <p:nvPr/>
          </p:nvSpPr>
          <p:spPr>
            <a:xfrm flipH="false" flipV="false" rot="0">
              <a:off x="0" y="0"/>
              <a:ext cx="10768711" cy="3129788"/>
            </a:xfrm>
            <a:custGeom>
              <a:avLst/>
              <a:gdLst/>
              <a:ahLst/>
              <a:cxnLst/>
              <a:rect r="r" b="b" t="t" l="l"/>
              <a:pathLst>
                <a:path h="3129788" w="10768711">
                  <a:moveTo>
                    <a:pt x="0" y="462788"/>
                  </a:moveTo>
                  <a:cubicBezTo>
                    <a:pt x="0" y="207137"/>
                    <a:pt x="207772" y="0"/>
                    <a:pt x="464058" y="0"/>
                  </a:cubicBezTo>
                  <a:lnTo>
                    <a:pt x="10304653" y="0"/>
                  </a:lnTo>
                  <a:lnTo>
                    <a:pt x="10304653" y="6350"/>
                  </a:lnTo>
                  <a:lnTo>
                    <a:pt x="10304653" y="0"/>
                  </a:lnTo>
                  <a:cubicBezTo>
                    <a:pt x="10560939" y="0"/>
                    <a:pt x="10768711" y="207137"/>
                    <a:pt x="10768711" y="462788"/>
                  </a:cubicBezTo>
                  <a:lnTo>
                    <a:pt x="10762361" y="462788"/>
                  </a:lnTo>
                  <a:lnTo>
                    <a:pt x="10768711" y="462788"/>
                  </a:lnTo>
                  <a:lnTo>
                    <a:pt x="10768711" y="2667000"/>
                  </a:lnTo>
                  <a:lnTo>
                    <a:pt x="10762361" y="2667000"/>
                  </a:lnTo>
                  <a:lnTo>
                    <a:pt x="10768711" y="2667000"/>
                  </a:lnTo>
                  <a:cubicBezTo>
                    <a:pt x="10768711" y="2922651"/>
                    <a:pt x="10560939" y="3129788"/>
                    <a:pt x="10304653" y="3129788"/>
                  </a:cubicBezTo>
                  <a:lnTo>
                    <a:pt x="10304653" y="3123438"/>
                  </a:lnTo>
                  <a:lnTo>
                    <a:pt x="10304653" y="3129788"/>
                  </a:lnTo>
                  <a:lnTo>
                    <a:pt x="464058" y="3129788"/>
                  </a:lnTo>
                  <a:lnTo>
                    <a:pt x="464058" y="3123438"/>
                  </a:lnTo>
                  <a:lnTo>
                    <a:pt x="464058" y="3129788"/>
                  </a:lnTo>
                  <a:cubicBezTo>
                    <a:pt x="207772" y="3129788"/>
                    <a:pt x="0" y="2922524"/>
                    <a:pt x="0" y="2667000"/>
                  </a:cubicBezTo>
                  <a:lnTo>
                    <a:pt x="0" y="462788"/>
                  </a:lnTo>
                  <a:lnTo>
                    <a:pt x="6350" y="462788"/>
                  </a:lnTo>
                  <a:lnTo>
                    <a:pt x="0" y="462788"/>
                  </a:lnTo>
                  <a:moveTo>
                    <a:pt x="12700" y="462788"/>
                  </a:moveTo>
                  <a:lnTo>
                    <a:pt x="12700" y="2667000"/>
                  </a:lnTo>
                  <a:lnTo>
                    <a:pt x="6350" y="2667000"/>
                  </a:lnTo>
                  <a:lnTo>
                    <a:pt x="12700" y="2667000"/>
                  </a:lnTo>
                  <a:cubicBezTo>
                    <a:pt x="12700" y="2915539"/>
                    <a:pt x="214757" y="3117088"/>
                    <a:pt x="464058" y="3117088"/>
                  </a:cubicBezTo>
                  <a:lnTo>
                    <a:pt x="10304653" y="3117088"/>
                  </a:lnTo>
                  <a:cubicBezTo>
                    <a:pt x="10553954" y="3117088"/>
                    <a:pt x="10756011" y="2915539"/>
                    <a:pt x="10756011" y="2667000"/>
                  </a:cubicBezTo>
                  <a:lnTo>
                    <a:pt x="10756011" y="462788"/>
                  </a:lnTo>
                  <a:cubicBezTo>
                    <a:pt x="10756138" y="214249"/>
                    <a:pt x="10554081" y="12700"/>
                    <a:pt x="10304653" y="12700"/>
                  </a:cubicBezTo>
                  <a:lnTo>
                    <a:pt x="464058" y="12700"/>
                  </a:lnTo>
                  <a:lnTo>
                    <a:pt x="464058" y="6350"/>
                  </a:lnTo>
                  <a:lnTo>
                    <a:pt x="464058" y="12700"/>
                  </a:lnTo>
                  <a:cubicBezTo>
                    <a:pt x="214757" y="12700"/>
                    <a:pt x="12700" y="214249"/>
                    <a:pt x="12700" y="462788"/>
                  </a:cubicBezTo>
                  <a:close/>
                </a:path>
              </a:pathLst>
            </a:custGeom>
            <a:solidFill>
              <a:srgbClr val="626C3B"/>
            </a:solidFill>
          </p:spPr>
        </p:sp>
      </p:grpSp>
      <p:grpSp>
        <p:nvGrpSpPr>
          <p:cNvPr name="Group 13" id="13"/>
          <p:cNvGrpSpPr/>
          <p:nvPr/>
        </p:nvGrpSpPr>
        <p:grpSpPr>
          <a:xfrm rot="0">
            <a:off x="9669513" y="2177205"/>
            <a:ext cx="684609" cy="684609"/>
            <a:chOff x="0" y="0"/>
            <a:chExt cx="912812" cy="912812"/>
          </a:xfrm>
        </p:grpSpPr>
        <p:sp>
          <p:nvSpPr>
            <p:cNvPr name="Freeform 14" id="14"/>
            <p:cNvSpPr/>
            <p:nvPr/>
          </p:nvSpPr>
          <p:spPr>
            <a:xfrm flipH="false" flipV="false" rot="0">
              <a:off x="0" y="0"/>
              <a:ext cx="912876" cy="912876"/>
            </a:xfrm>
            <a:custGeom>
              <a:avLst/>
              <a:gdLst/>
              <a:ahLst/>
              <a:cxnLst/>
              <a:rect r="r" b="b" t="t" l="l"/>
              <a:pathLst>
                <a:path h="912876" w="912876">
                  <a:moveTo>
                    <a:pt x="0" y="456438"/>
                  </a:moveTo>
                  <a:cubicBezTo>
                    <a:pt x="0" y="204343"/>
                    <a:pt x="204343" y="0"/>
                    <a:pt x="456438" y="0"/>
                  </a:cubicBezTo>
                  <a:cubicBezTo>
                    <a:pt x="708533" y="0"/>
                    <a:pt x="912876" y="204343"/>
                    <a:pt x="912876" y="456438"/>
                  </a:cubicBezTo>
                  <a:cubicBezTo>
                    <a:pt x="912876" y="708533"/>
                    <a:pt x="708533" y="912876"/>
                    <a:pt x="456438" y="912876"/>
                  </a:cubicBezTo>
                  <a:cubicBezTo>
                    <a:pt x="204343" y="912876"/>
                    <a:pt x="0" y="708533"/>
                    <a:pt x="0" y="456438"/>
                  </a:cubicBezTo>
                  <a:close/>
                </a:path>
              </a:pathLst>
            </a:custGeom>
            <a:solidFill>
              <a:srgbClr val="626C3B"/>
            </a:solidFill>
          </p:spPr>
        </p:sp>
      </p:grpSp>
      <p:sp>
        <p:nvSpPr>
          <p:cNvPr name="Freeform 15" id="15" descr="preencoded.png"/>
          <p:cNvSpPr/>
          <p:nvPr/>
        </p:nvSpPr>
        <p:spPr>
          <a:xfrm flipH="false" flipV="false" rot="0">
            <a:off x="9857784" y="2365324"/>
            <a:ext cx="308077" cy="308077"/>
          </a:xfrm>
          <a:custGeom>
            <a:avLst/>
            <a:gdLst/>
            <a:ahLst/>
            <a:cxnLst/>
            <a:rect r="r" b="b" t="t" l="l"/>
            <a:pathLst>
              <a:path h="308077" w="308077">
                <a:moveTo>
                  <a:pt x="0" y="0"/>
                </a:moveTo>
                <a:lnTo>
                  <a:pt x="308077" y="0"/>
                </a:lnTo>
                <a:lnTo>
                  <a:pt x="308077" y="308077"/>
                </a:lnTo>
                <a:lnTo>
                  <a:pt x="0" y="3080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9669513" y="3061392"/>
            <a:ext cx="2852585" cy="385172"/>
          </a:xfrm>
          <a:prstGeom prst="rect">
            <a:avLst/>
          </a:prstGeom>
        </p:spPr>
        <p:txBody>
          <a:bodyPr anchor="t" rtlCol="false" tIns="0" lIns="0" bIns="0" rIns="0">
            <a:spAutoFit/>
          </a:bodyPr>
          <a:lstStyle/>
          <a:p>
            <a:pPr algn="l">
              <a:lnSpc>
                <a:spcPts val="2750"/>
              </a:lnSpc>
            </a:pPr>
            <a:r>
              <a:rPr lang="en-US" sz="2187" b="true">
                <a:solidFill>
                  <a:srgbClr val="FFFFFF"/>
                </a:solidFill>
                <a:latin typeface="Arimo Bold"/>
                <a:ea typeface="Arimo Bold"/>
                <a:cs typeface="Arimo Bold"/>
                <a:sym typeface="Arimo Bold"/>
              </a:rPr>
              <a:t>City #1</a:t>
            </a:r>
          </a:p>
        </p:txBody>
      </p:sp>
      <p:sp>
        <p:nvSpPr>
          <p:cNvPr name="TextBox 17" id="17"/>
          <p:cNvSpPr txBox="true"/>
          <p:nvPr/>
        </p:nvSpPr>
        <p:spPr>
          <a:xfrm rot="0">
            <a:off x="9669513" y="3579466"/>
            <a:ext cx="7591720" cy="460172"/>
          </a:xfrm>
          <a:prstGeom prst="rect">
            <a:avLst/>
          </a:prstGeom>
        </p:spPr>
        <p:txBody>
          <a:bodyPr anchor="t" rtlCol="false" tIns="0" lIns="0" bIns="0" rIns="0">
            <a:spAutoFit/>
          </a:bodyPr>
          <a:lstStyle/>
          <a:p>
            <a:pPr algn="l">
              <a:lnSpc>
                <a:spcPts val="2874"/>
              </a:lnSpc>
            </a:pPr>
            <a:r>
              <a:rPr lang="en-US" sz="1750">
                <a:solidFill>
                  <a:srgbClr val="FFFFFF"/>
                </a:solidFill>
                <a:latin typeface="Arimo"/>
                <a:ea typeface="Arimo"/>
                <a:cs typeface="Arimo"/>
                <a:sym typeface="Arimo"/>
              </a:rPr>
              <a:t>Highest order volume and consistent growth trajectory</a:t>
            </a:r>
          </a:p>
        </p:txBody>
      </p:sp>
      <p:grpSp>
        <p:nvGrpSpPr>
          <p:cNvPr name="Group 18" id="18"/>
          <p:cNvGrpSpPr/>
          <p:nvPr/>
        </p:nvGrpSpPr>
        <p:grpSpPr>
          <a:xfrm rot="0">
            <a:off x="9427073" y="4500715"/>
            <a:ext cx="8076609" cy="2347322"/>
            <a:chOff x="0" y="0"/>
            <a:chExt cx="10768813" cy="3129763"/>
          </a:xfrm>
        </p:grpSpPr>
        <p:sp>
          <p:nvSpPr>
            <p:cNvPr name="Freeform 19" id="19"/>
            <p:cNvSpPr/>
            <p:nvPr/>
          </p:nvSpPr>
          <p:spPr>
            <a:xfrm flipH="false" flipV="false" rot="0">
              <a:off x="6350" y="6350"/>
              <a:ext cx="10756011" cy="3117088"/>
            </a:xfrm>
            <a:custGeom>
              <a:avLst/>
              <a:gdLst/>
              <a:ahLst/>
              <a:cxnLst/>
              <a:rect r="r" b="b" t="t" l="l"/>
              <a:pathLst>
                <a:path h="3117088" w="10756011">
                  <a:moveTo>
                    <a:pt x="0" y="456438"/>
                  </a:moveTo>
                  <a:cubicBezTo>
                    <a:pt x="0" y="204343"/>
                    <a:pt x="204978" y="0"/>
                    <a:pt x="457708" y="0"/>
                  </a:cubicBezTo>
                  <a:lnTo>
                    <a:pt x="10298303" y="0"/>
                  </a:lnTo>
                  <a:cubicBezTo>
                    <a:pt x="10551160" y="0"/>
                    <a:pt x="10756011" y="204343"/>
                    <a:pt x="10756011" y="456438"/>
                  </a:cubicBezTo>
                  <a:lnTo>
                    <a:pt x="10756011" y="2660650"/>
                  </a:lnTo>
                  <a:cubicBezTo>
                    <a:pt x="10756011" y="2912745"/>
                    <a:pt x="10551033" y="3117088"/>
                    <a:pt x="10298303" y="3117088"/>
                  </a:cubicBezTo>
                  <a:lnTo>
                    <a:pt x="457708" y="3117088"/>
                  </a:lnTo>
                  <a:cubicBezTo>
                    <a:pt x="204978" y="3117088"/>
                    <a:pt x="0" y="2912745"/>
                    <a:pt x="0" y="2660650"/>
                  </a:cubicBezTo>
                  <a:close/>
                </a:path>
              </a:pathLst>
            </a:custGeom>
            <a:solidFill>
              <a:srgbClr val="626C3B"/>
            </a:solidFill>
          </p:spPr>
        </p:sp>
        <p:sp>
          <p:nvSpPr>
            <p:cNvPr name="Freeform 20" id="20"/>
            <p:cNvSpPr/>
            <p:nvPr/>
          </p:nvSpPr>
          <p:spPr>
            <a:xfrm flipH="false" flipV="false" rot="0">
              <a:off x="0" y="0"/>
              <a:ext cx="10768711" cy="3129788"/>
            </a:xfrm>
            <a:custGeom>
              <a:avLst/>
              <a:gdLst/>
              <a:ahLst/>
              <a:cxnLst/>
              <a:rect r="r" b="b" t="t" l="l"/>
              <a:pathLst>
                <a:path h="3129788" w="10768711">
                  <a:moveTo>
                    <a:pt x="0" y="462788"/>
                  </a:moveTo>
                  <a:cubicBezTo>
                    <a:pt x="0" y="207137"/>
                    <a:pt x="207772" y="0"/>
                    <a:pt x="464058" y="0"/>
                  </a:cubicBezTo>
                  <a:lnTo>
                    <a:pt x="10304653" y="0"/>
                  </a:lnTo>
                  <a:lnTo>
                    <a:pt x="10304653" y="6350"/>
                  </a:lnTo>
                  <a:lnTo>
                    <a:pt x="10304653" y="0"/>
                  </a:lnTo>
                  <a:cubicBezTo>
                    <a:pt x="10560939" y="0"/>
                    <a:pt x="10768711" y="207137"/>
                    <a:pt x="10768711" y="462788"/>
                  </a:cubicBezTo>
                  <a:lnTo>
                    <a:pt x="10762361" y="462788"/>
                  </a:lnTo>
                  <a:lnTo>
                    <a:pt x="10768711" y="462788"/>
                  </a:lnTo>
                  <a:lnTo>
                    <a:pt x="10768711" y="2667000"/>
                  </a:lnTo>
                  <a:lnTo>
                    <a:pt x="10762361" y="2667000"/>
                  </a:lnTo>
                  <a:lnTo>
                    <a:pt x="10768711" y="2667000"/>
                  </a:lnTo>
                  <a:cubicBezTo>
                    <a:pt x="10768711" y="2922651"/>
                    <a:pt x="10560939" y="3129788"/>
                    <a:pt x="10304653" y="3129788"/>
                  </a:cubicBezTo>
                  <a:lnTo>
                    <a:pt x="10304653" y="3123438"/>
                  </a:lnTo>
                  <a:lnTo>
                    <a:pt x="10304653" y="3129788"/>
                  </a:lnTo>
                  <a:lnTo>
                    <a:pt x="464058" y="3129788"/>
                  </a:lnTo>
                  <a:lnTo>
                    <a:pt x="464058" y="3123438"/>
                  </a:lnTo>
                  <a:lnTo>
                    <a:pt x="464058" y="3129788"/>
                  </a:lnTo>
                  <a:cubicBezTo>
                    <a:pt x="207772" y="3129788"/>
                    <a:pt x="0" y="2922524"/>
                    <a:pt x="0" y="2667000"/>
                  </a:cubicBezTo>
                  <a:lnTo>
                    <a:pt x="0" y="462788"/>
                  </a:lnTo>
                  <a:lnTo>
                    <a:pt x="6350" y="462788"/>
                  </a:lnTo>
                  <a:lnTo>
                    <a:pt x="0" y="462788"/>
                  </a:lnTo>
                  <a:moveTo>
                    <a:pt x="12700" y="462788"/>
                  </a:moveTo>
                  <a:lnTo>
                    <a:pt x="12700" y="2667000"/>
                  </a:lnTo>
                  <a:lnTo>
                    <a:pt x="6350" y="2667000"/>
                  </a:lnTo>
                  <a:lnTo>
                    <a:pt x="12700" y="2667000"/>
                  </a:lnTo>
                  <a:cubicBezTo>
                    <a:pt x="12700" y="2915539"/>
                    <a:pt x="214757" y="3117088"/>
                    <a:pt x="464058" y="3117088"/>
                  </a:cubicBezTo>
                  <a:lnTo>
                    <a:pt x="10304653" y="3117088"/>
                  </a:lnTo>
                  <a:cubicBezTo>
                    <a:pt x="10553954" y="3117088"/>
                    <a:pt x="10756011" y="2915539"/>
                    <a:pt x="10756011" y="2667000"/>
                  </a:cubicBezTo>
                  <a:lnTo>
                    <a:pt x="10756011" y="462788"/>
                  </a:lnTo>
                  <a:cubicBezTo>
                    <a:pt x="10756138" y="214249"/>
                    <a:pt x="10554081" y="12700"/>
                    <a:pt x="10304653" y="12700"/>
                  </a:cubicBezTo>
                  <a:lnTo>
                    <a:pt x="464058" y="12700"/>
                  </a:lnTo>
                  <a:lnTo>
                    <a:pt x="464058" y="6350"/>
                  </a:lnTo>
                  <a:lnTo>
                    <a:pt x="464058" y="12700"/>
                  </a:lnTo>
                  <a:cubicBezTo>
                    <a:pt x="214757" y="12700"/>
                    <a:pt x="12700" y="214249"/>
                    <a:pt x="12700" y="462788"/>
                  </a:cubicBezTo>
                  <a:close/>
                </a:path>
              </a:pathLst>
            </a:custGeom>
            <a:solidFill>
              <a:srgbClr val="83792E"/>
            </a:solidFill>
          </p:spPr>
        </p:sp>
      </p:grpSp>
      <p:grpSp>
        <p:nvGrpSpPr>
          <p:cNvPr name="Group 21" id="21"/>
          <p:cNvGrpSpPr/>
          <p:nvPr/>
        </p:nvGrpSpPr>
        <p:grpSpPr>
          <a:xfrm rot="0">
            <a:off x="9669513" y="4743155"/>
            <a:ext cx="684609" cy="684609"/>
            <a:chOff x="0" y="0"/>
            <a:chExt cx="912812" cy="912812"/>
          </a:xfrm>
        </p:grpSpPr>
        <p:sp>
          <p:nvSpPr>
            <p:cNvPr name="Freeform 22" id="22"/>
            <p:cNvSpPr/>
            <p:nvPr/>
          </p:nvSpPr>
          <p:spPr>
            <a:xfrm flipH="false" flipV="false" rot="0">
              <a:off x="0" y="0"/>
              <a:ext cx="912876" cy="912876"/>
            </a:xfrm>
            <a:custGeom>
              <a:avLst/>
              <a:gdLst/>
              <a:ahLst/>
              <a:cxnLst/>
              <a:rect r="r" b="b" t="t" l="l"/>
              <a:pathLst>
                <a:path h="912876" w="912876">
                  <a:moveTo>
                    <a:pt x="0" y="456438"/>
                  </a:moveTo>
                  <a:cubicBezTo>
                    <a:pt x="0" y="204343"/>
                    <a:pt x="204343" y="0"/>
                    <a:pt x="456438" y="0"/>
                  </a:cubicBezTo>
                  <a:cubicBezTo>
                    <a:pt x="708533" y="0"/>
                    <a:pt x="912876" y="204343"/>
                    <a:pt x="912876" y="456438"/>
                  </a:cubicBezTo>
                  <a:cubicBezTo>
                    <a:pt x="912876" y="708533"/>
                    <a:pt x="708533" y="912876"/>
                    <a:pt x="456438" y="912876"/>
                  </a:cubicBezTo>
                  <a:cubicBezTo>
                    <a:pt x="204343" y="912876"/>
                    <a:pt x="0" y="708533"/>
                    <a:pt x="0" y="456438"/>
                  </a:cubicBezTo>
                  <a:close/>
                </a:path>
              </a:pathLst>
            </a:custGeom>
            <a:solidFill>
              <a:srgbClr val="83792E"/>
            </a:solidFill>
          </p:spPr>
        </p:sp>
      </p:grpSp>
      <p:sp>
        <p:nvSpPr>
          <p:cNvPr name="Freeform 23" id="23" descr="preencoded.png"/>
          <p:cNvSpPr/>
          <p:nvPr/>
        </p:nvSpPr>
        <p:spPr>
          <a:xfrm flipH="false" flipV="false" rot="0">
            <a:off x="9857784" y="4931273"/>
            <a:ext cx="308077" cy="308077"/>
          </a:xfrm>
          <a:custGeom>
            <a:avLst/>
            <a:gdLst/>
            <a:ahLst/>
            <a:cxnLst/>
            <a:rect r="r" b="b" t="t" l="l"/>
            <a:pathLst>
              <a:path h="308077" w="308077">
                <a:moveTo>
                  <a:pt x="0" y="0"/>
                </a:moveTo>
                <a:lnTo>
                  <a:pt x="308077" y="0"/>
                </a:lnTo>
                <a:lnTo>
                  <a:pt x="308077" y="308077"/>
                </a:lnTo>
                <a:lnTo>
                  <a:pt x="0" y="3080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9669513" y="5627341"/>
            <a:ext cx="2852585" cy="385172"/>
          </a:xfrm>
          <a:prstGeom prst="rect">
            <a:avLst/>
          </a:prstGeom>
        </p:spPr>
        <p:txBody>
          <a:bodyPr anchor="t" rtlCol="false" tIns="0" lIns="0" bIns="0" rIns="0">
            <a:spAutoFit/>
          </a:bodyPr>
          <a:lstStyle/>
          <a:p>
            <a:pPr algn="l">
              <a:lnSpc>
                <a:spcPts val="2750"/>
              </a:lnSpc>
            </a:pPr>
            <a:r>
              <a:rPr lang="en-US" sz="2187" b="true">
                <a:solidFill>
                  <a:srgbClr val="FFFFFF"/>
                </a:solidFill>
                <a:latin typeface="Arimo Bold"/>
                <a:ea typeface="Arimo Bold"/>
                <a:cs typeface="Arimo Bold"/>
                <a:sym typeface="Arimo Bold"/>
              </a:rPr>
              <a:t>City #2</a:t>
            </a:r>
          </a:p>
        </p:txBody>
      </p:sp>
      <p:sp>
        <p:nvSpPr>
          <p:cNvPr name="TextBox 25" id="25"/>
          <p:cNvSpPr txBox="true"/>
          <p:nvPr/>
        </p:nvSpPr>
        <p:spPr>
          <a:xfrm rot="0">
            <a:off x="9669513" y="6145416"/>
            <a:ext cx="7591720" cy="460172"/>
          </a:xfrm>
          <a:prstGeom prst="rect">
            <a:avLst/>
          </a:prstGeom>
        </p:spPr>
        <p:txBody>
          <a:bodyPr anchor="t" rtlCol="false" tIns="0" lIns="0" bIns="0" rIns="0">
            <a:spAutoFit/>
          </a:bodyPr>
          <a:lstStyle/>
          <a:p>
            <a:pPr algn="l">
              <a:lnSpc>
                <a:spcPts val="2874"/>
              </a:lnSpc>
            </a:pPr>
            <a:r>
              <a:rPr lang="en-US" sz="1750">
                <a:solidFill>
                  <a:srgbClr val="FFFFFF"/>
                </a:solidFill>
                <a:latin typeface="Arimo"/>
                <a:ea typeface="Arimo"/>
                <a:cs typeface="Arimo"/>
                <a:sym typeface="Arimo"/>
              </a:rPr>
              <a:t>Strong market penetration with loyal customer base</a:t>
            </a:r>
          </a:p>
        </p:txBody>
      </p:sp>
      <p:grpSp>
        <p:nvGrpSpPr>
          <p:cNvPr name="Group 26" id="26"/>
          <p:cNvGrpSpPr/>
          <p:nvPr/>
        </p:nvGrpSpPr>
        <p:grpSpPr>
          <a:xfrm rot="0">
            <a:off x="9427073" y="7066655"/>
            <a:ext cx="8076609" cy="2347322"/>
            <a:chOff x="0" y="0"/>
            <a:chExt cx="10768813" cy="3129763"/>
          </a:xfrm>
        </p:grpSpPr>
        <p:sp>
          <p:nvSpPr>
            <p:cNvPr name="Freeform 27" id="27"/>
            <p:cNvSpPr/>
            <p:nvPr/>
          </p:nvSpPr>
          <p:spPr>
            <a:xfrm flipH="false" flipV="false" rot="0">
              <a:off x="6350" y="6350"/>
              <a:ext cx="10756011" cy="3117088"/>
            </a:xfrm>
            <a:custGeom>
              <a:avLst/>
              <a:gdLst/>
              <a:ahLst/>
              <a:cxnLst/>
              <a:rect r="r" b="b" t="t" l="l"/>
              <a:pathLst>
                <a:path h="3117088" w="10756011">
                  <a:moveTo>
                    <a:pt x="0" y="456438"/>
                  </a:moveTo>
                  <a:cubicBezTo>
                    <a:pt x="0" y="204343"/>
                    <a:pt x="204978" y="0"/>
                    <a:pt x="457708" y="0"/>
                  </a:cubicBezTo>
                  <a:lnTo>
                    <a:pt x="10298303" y="0"/>
                  </a:lnTo>
                  <a:cubicBezTo>
                    <a:pt x="10551160" y="0"/>
                    <a:pt x="10756011" y="204343"/>
                    <a:pt x="10756011" y="456438"/>
                  </a:cubicBezTo>
                  <a:lnTo>
                    <a:pt x="10756011" y="2660650"/>
                  </a:lnTo>
                  <a:cubicBezTo>
                    <a:pt x="10756011" y="2912745"/>
                    <a:pt x="10551033" y="3117088"/>
                    <a:pt x="10298303" y="3117088"/>
                  </a:cubicBezTo>
                  <a:lnTo>
                    <a:pt x="457708" y="3117088"/>
                  </a:lnTo>
                  <a:cubicBezTo>
                    <a:pt x="204978" y="3117088"/>
                    <a:pt x="0" y="2912745"/>
                    <a:pt x="0" y="2660650"/>
                  </a:cubicBezTo>
                  <a:close/>
                </a:path>
              </a:pathLst>
            </a:custGeom>
            <a:solidFill>
              <a:srgbClr val="626C3B"/>
            </a:solidFill>
          </p:spPr>
        </p:sp>
        <p:sp>
          <p:nvSpPr>
            <p:cNvPr name="Freeform 28" id="28"/>
            <p:cNvSpPr/>
            <p:nvPr/>
          </p:nvSpPr>
          <p:spPr>
            <a:xfrm flipH="false" flipV="false" rot="0">
              <a:off x="0" y="0"/>
              <a:ext cx="10768711" cy="3129788"/>
            </a:xfrm>
            <a:custGeom>
              <a:avLst/>
              <a:gdLst/>
              <a:ahLst/>
              <a:cxnLst/>
              <a:rect r="r" b="b" t="t" l="l"/>
              <a:pathLst>
                <a:path h="3129788" w="10768711">
                  <a:moveTo>
                    <a:pt x="0" y="462788"/>
                  </a:moveTo>
                  <a:cubicBezTo>
                    <a:pt x="0" y="207137"/>
                    <a:pt x="207772" y="0"/>
                    <a:pt x="464058" y="0"/>
                  </a:cubicBezTo>
                  <a:lnTo>
                    <a:pt x="10304653" y="0"/>
                  </a:lnTo>
                  <a:lnTo>
                    <a:pt x="10304653" y="6350"/>
                  </a:lnTo>
                  <a:lnTo>
                    <a:pt x="10304653" y="0"/>
                  </a:lnTo>
                  <a:cubicBezTo>
                    <a:pt x="10560939" y="0"/>
                    <a:pt x="10768711" y="207137"/>
                    <a:pt x="10768711" y="462788"/>
                  </a:cubicBezTo>
                  <a:lnTo>
                    <a:pt x="10762361" y="462788"/>
                  </a:lnTo>
                  <a:lnTo>
                    <a:pt x="10768711" y="462788"/>
                  </a:lnTo>
                  <a:lnTo>
                    <a:pt x="10768711" y="2667000"/>
                  </a:lnTo>
                  <a:lnTo>
                    <a:pt x="10762361" y="2667000"/>
                  </a:lnTo>
                  <a:lnTo>
                    <a:pt x="10768711" y="2667000"/>
                  </a:lnTo>
                  <a:cubicBezTo>
                    <a:pt x="10768711" y="2922651"/>
                    <a:pt x="10560939" y="3129788"/>
                    <a:pt x="10304653" y="3129788"/>
                  </a:cubicBezTo>
                  <a:lnTo>
                    <a:pt x="10304653" y="3123438"/>
                  </a:lnTo>
                  <a:lnTo>
                    <a:pt x="10304653" y="3129788"/>
                  </a:lnTo>
                  <a:lnTo>
                    <a:pt x="464058" y="3129788"/>
                  </a:lnTo>
                  <a:lnTo>
                    <a:pt x="464058" y="3123438"/>
                  </a:lnTo>
                  <a:lnTo>
                    <a:pt x="464058" y="3129788"/>
                  </a:lnTo>
                  <a:cubicBezTo>
                    <a:pt x="207772" y="3129788"/>
                    <a:pt x="0" y="2922524"/>
                    <a:pt x="0" y="2667000"/>
                  </a:cubicBezTo>
                  <a:lnTo>
                    <a:pt x="0" y="462788"/>
                  </a:lnTo>
                  <a:lnTo>
                    <a:pt x="6350" y="462788"/>
                  </a:lnTo>
                  <a:lnTo>
                    <a:pt x="0" y="462788"/>
                  </a:lnTo>
                  <a:moveTo>
                    <a:pt x="12700" y="462788"/>
                  </a:moveTo>
                  <a:lnTo>
                    <a:pt x="12700" y="2667000"/>
                  </a:lnTo>
                  <a:lnTo>
                    <a:pt x="6350" y="2667000"/>
                  </a:lnTo>
                  <a:lnTo>
                    <a:pt x="12700" y="2667000"/>
                  </a:lnTo>
                  <a:cubicBezTo>
                    <a:pt x="12700" y="2915539"/>
                    <a:pt x="214757" y="3117088"/>
                    <a:pt x="464058" y="3117088"/>
                  </a:cubicBezTo>
                  <a:lnTo>
                    <a:pt x="10304653" y="3117088"/>
                  </a:lnTo>
                  <a:cubicBezTo>
                    <a:pt x="10553954" y="3117088"/>
                    <a:pt x="10756011" y="2915539"/>
                    <a:pt x="10756011" y="2667000"/>
                  </a:cubicBezTo>
                  <a:lnTo>
                    <a:pt x="10756011" y="462788"/>
                  </a:lnTo>
                  <a:cubicBezTo>
                    <a:pt x="10756138" y="214249"/>
                    <a:pt x="10554081" y="12700"/>
                    <a:pt x="10304653" y="12700"/>
                  </a:cubicBezTo>
                  <a:lnTo>
                    <a:pt x="464058" y="12700"/>
                  </a:lnTo>
                  <a:lnTo>
                    <a:pt x="464058" y="6350"/>
                  </a:lnTo>
                  <a:lnTo>
                    <a:pt x="464058" y="12700"/>
                  </a:lnTo>
                  <a:cubicBezTo>
                    <a:pt x="214757" y="12700"/>
                    <a:pt x="12700" y="214249"/>
                    <a:pt x="12700" y="462788"/>
                  </a:cubicBezTo>
                  <a:close/>
                </a:path>
              </a:pathLst>
            </a:custGeom>
            <a:solidFill>
              <a:srgbClr val="E8AF3B"/>
            </a:solidFill>
          </p:spPr>
        </p:sp>
      </p:grpSp>
      <p:grpSp>
        <p:nvGrpSpPr>
          <p:cNvPr name="Group 29" id="29"/>
          <p:cNvGrpSpPr/>
          <p:nvPr/>
        </p:nvGrpSpPr>
        <p:grpSpPr>
          <a:xfrm rot="0">
            <a:off x="9669513" y="7309094"/>
            <a:ext cx="684609" cy="684609"/>
            <a:chOff x="0" y="0"/>
            <a:chExt cx="912812" cy="912812"/>
          </a:xfrm>
        </p:grpSpPr>
        <p:sp>
          <p:nvSpPr>
            <p:cNvPr name="Freeform 30" id="30"/>
            <p:cNvSpPr/>
            <p:nvPr/>
          </p:nvSpPr>
          <p:spPr>
            <a:xfrm flipH="false" flipV="false" rot="0">
              <a:off x="0" y="0"/>
              <a:ext cx="912876" cy="912876"/>
            </a:xfrm>
            <a:custGeom>
              <a:avLst/>
              <a:gdLst/>
              <a:ahLst/>
              <a:cxnLst/>
              <a:rect r="r" b="b" t="t" l="l"/>
              <a:pathLst>
                <a:path h="912876" w="912876">
                  <a:moveTo>
                    <a:pt x="0" y="456438"/>
                  </a:moveTo>
                  <a:cubicBezTo>
                    <a:pt x="0" y="204343"/>
                    <a:pt x="204343" y="0"/>
                    <a:pt x="456438" y="0"/>
                  </a:cubicBezTo>
                  <a:cubicBezTo>
                    <a:pt x="708533" y="0"/>
                    <a:pt x="912876" y="204343"/>
                    <a:pt x="912876" y="456438"/>
                  </a:cubicBezTo>
                  <a:cubicBezTo>
                    <a:pt x="912876" y="708533"/>
                    <a:pt x="708533" y="912876"/>
                    <a:pt x="456438" y="912876"/>
                  </a:cubicBezTo>
                  <a:cubicBezTo>
                    <a:pt x="204343" y="912876"/>
                    <a:pt x="0" y="708533"/>
                    <a:pt x="0" y="456438"/>
                  </a:cubicBezTo>
                  <a:close/>
                </a:path>
              </a:pathLst>
            </a:custGeom>
            <a:solidFill>
              <a:srgbClr val="E8AF3B"/>
            </a:solidFill>
          </p:spPr>
        </p:sp>
      </p:grpSp>
      <p:sp>
        <p:nvSpPr>
          <p:cNvPr name="Freeform 31" id="31" descr="preencoded.png"/>
          <p:cNvSpPr/>
          <p:nvPr/>
        </p:nvSpPr>
        <p:spPr>
          <a:xfrm flipH="false" flipV="false" rot="0">
            <a:off x="9857784" y="7497213"/>
            <a:ext cx="308077" cy="308077"/>
          </a:xfrm>
          <a:custGeom>
            <a:avLst/>
            <a:gdLst/>
            <a:ahLst/>
            <a:cxnLst/>
            <a:rect r="r" b="b" t="t" l="l"/>
            <a:pathLst>
              <a:path h="308077" w="308077">
                <a:moveTo>
                  <a:pt x="0" y="0"/>
                </a:moveTo>
                <a:lnTo>
                  <a:pt x="308077" y="0"/>
                </a:lnTo>
                <a:lnTo>
                  <a:pt x="308077" y="308077"/>
                </a:lnTo>
                <a:lnTo>
                  <a:pt x="0" y="308077"/>
                </a:lnTo>
                <a:lnTo>
                  <a:pt x="0" y="0"/>
                </a:lnTo>
                <a:close/>
              </a:path>
            </a:pathLst>
          </a:custGeom>
          <a:blipFill>
            <a:blip r:embed="rId7">
              <a:extLst>
                <a:ext uri="{96DAC541-7B7A-43D3-8B79-37D633B846F1}">
                  <asvg:svgBlip xmlns:asvg="http://schemas.microsoft.com/office/drawing/2016/SVG/main" r:embed="rId8"/>
                </a:ext>
              </a:extLst>
            </a:blip>
            <a:stretch>
              <a:fillRect l="-1514" t="0" r="-1514" b="0"/>
            </a:stretch>
          </a:blipFill>
        </p:spPr>
      </p:sp>
      <p:sp>
        <p:nvSpPr>
          <p:cNvPr name="TextBox 32" id="32"/>
          <p:cNvSpPr txBox="true"/>
          <p:nvPr/>
        </p:nvSpPr>
        <p:spPr>
          <a:xfrm rot="0">
            <a:off x="9669513" y="8193291"/>
            <a:ext cx="2852585" cy="385172"/>
          </a:xfrm>
          <a:prstGeom prst="rect">
            <a:avLst/>
          </a:prstGeom>
        </p:spPr>
        <p:txBody>
          <a:bodyPr anchor="t" rtlCol="false" tIns="0" lIns="0" bIns="0" rIns="0">
            <a:spAutoFit/>
          </a:bodyPr>
          <a:lstStyle/>
          <a:p>
            <a:pPr algn="l">
              <a:lnSpc>
                <a:spcPts val="2750"/>
              </a:lnSpc>
            </a:pPr>
            <a:r>
              <a:rPr lang="en-US" sz="2187" b="true">
                <a:solidFill>
                  <a:srgbClr val="FFFFFF"/>
                </a:solidFill>
                <a:latin typeface="Arimo Bold"/>
                <a:ea typeface="Arimo Bold"/>
                <a:cs typeface="Arimo Bold"/>
                <a:sym typeface="Arimo Bold"/>
              </a:rPr>
              <a:t>City #3</a:t>
            </a:r>
          </a:p>
        </p:txBody>
      </p:sp>
      <p:sp>
        <p:nvSpPr>
          <p:cNvPr name="TextBox 33" id="33"/>
          <p:cNvSpPr txBox="true"/>
          <p:nvPr/>
        </p:nvSpPr>
        <p:spPr>
          <a:xfrm rot="0">
            <a:off x="9669513" y="8711355"/>
            <a:ext cx="7591720" cy="460172"/>
          </a:xfrm>
          <a:prstGeom prst="rect">
            <a:avLst/>
          </a:prstGeom>
        </p:spPr>
        <p:txBody>
          <a:bodyPr anchor="t" rtlCol="false" tIns="0" lIns="0" bIns="0" rIns="0">
            <a:spAutoFit/>
          </a:bodyPr>
          <a:lstStyle/>
          <a:p>
            <a:pPr algn="l">
              <a:lnSpc>
                <a:spcPts val="2874"/>
              </a:lnSpc>
            </a:pPr>
            <a:r>
              <a:rPr lang="en-US" sz="1750">
                <a:solidFill>
                  <a:srgbClr val="FFFFFF"/>
                </a:solidFill>
                <a:latin typeface="Arimo"/>
                <a:ea typeface="Arimo"/>
                <a:cs typeface="Arimo"/>
                <a:sym typeface="Arimo"/>
              </a:rPr>
              <a:t>Emerging market with rapid expansion potential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grpSp>
        <p:nvGrpSpPr>
          <p:cNvPr name="Group 6" id="6"/>
          <p:cNvGrpSpPr/>
          <p:nvPr/>
        </p:nvGrpSpPr>
        <p:grpSpPr>
          <a:xfrm rot="0">
            <a:off x="0" y="0"/>
            <a:ext cx="7200900" cy="10287000"/>
            <a:chOff x="0" y="0"/>
            <a:chExt cx="9601200" cy="13716000"/>
          </a:xfrm>
        </p:grpSpPr>
        <p:sp>
          <p:nvSpPr>
            <p:cNvPr name="Freeform 7" id="7"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002059"/>
            <a:ext cx="9445523" cy="1829095"/>
          </a:xfrm>
          <a:prstGeom prst="rect">
            <a:avLst/>
          </a:prstGeom>
        </p:spPr>
        <p:txBody>
          <a:bodyPr anchor="t" rtlCol="false" tIns="0" lIns="0" bIns="0" rIns="0">
            <a:spAutoFit/>
          </a:bodyPr>
          <a:lstStyle/>
          <a:p>
            <a:pPr algn="l">
              <a:lnSpc>
                <a:spcPts val="6937"/>
              </a:lnSpc>
            </a:pPr>
            <a:r>
              <a:rPr lang="en-US" sz="5562" b="true">
                <a:solidFill>
                  <a:srgbClr val="403011"/>
                </a:solidFill>
                <a:latin typeface="Arimo Bold"/>
                <a:ea typeface="Arimo Bold"/>
                <a:cs typeface="Arimo Bold"/>
                <a:sym typeface="Arimo Bold"/>
              </a:rPr>
              <a:t>Untapped Regional Potential</a:t>
            </a:r>
          </a:p>
        </p:txBody>
      </p:sp>
      <p:grpSp>
        <p:nvGrpSpPr>
          <p:cNvPr name="Group 9" id="9"/>
          <p:cNvGrpSpPr/>
          <p:nvPr/>
        </p:nvGrpSpPr>
        <p:grpSpPr>
          <a:xfrm rot="0">
            <a:off x="7831188" y="3237309"/>
            <a:ext cx="9483623" cy="3108874"/>
            <a:chOff x="0" y="0"/>
            <a:chExt cx="12644831" cy="4145166"/>
          </a:xfrm>
        </p:grpSpPr>
        <p:sp>
          <p:nvSpPr>
            <p:cNvPr name="Freeform 10" id="10"/>
            <p:cNvSpPr/>
            <p:nvPr/>
          </p:nvSpPr>
          <p:spPr>
            <a:xfrm flipH="false" flipV="false" rot="0">
              <a:off x="25400" y="25400"/>
              <a:ext cx="12593955" cy="4094353"/>
            </a:xfrm>
            <a:custGeom>
              <a:avLst/>
              <a:gdLst/>
              <a:ahLst/>
              <a:cxnLst/>
              <a:rect r="r" b="b" t="t" l="l"/>
              <a:pathLst>
                <a:path h="4094353" w="12593955">
                  <a:moveTo>
                    <a:pt x="0" y="567055"/>
                  </a:moveTo>
                  <a:cubicBezTo>
                    <a:pt x="0" y="253873"/>
                    <a:pt x="256032" y="0"/>
                    <a:pt x="571754" y="0"/>
                  </a:cubicBezTo>
                  <a:lnTo>
                    <a:pt x="12022201" y="0"/>
                  </a:lnTo>
                  <a:cubicBezTo>
                    <a:pt x="12338050" y="0"/>
                    <a:pt x="12593955" y="253873"/>
                    <a:pt x="12593955" y="567055"/>
                  </a:cubicBezTo>
                  <a:lnTo>
                    <a:pt x="12593955" y="3527298"/>
                  </a:lnTo>
                  <a:cubicBezTo>
                    <a:pt x="12593955" y="3840480"/>
                    <a:pt x="12337923" y="4094353"/>
                    <a:pt x="12022201" y="4094353"/>
                  </a:cubicBezTo>
                  <a:lnTo>
                    <a:pt x="571754" y="4094353"/>
                  </a:lnTo>
                  <a:cubicBezTo>
                    <a:pt x="256032" y="4094353"/>
                    <a:pt x="0" y="3840480"/>
                    <a:pt x="0" y="3527298"/>
                  </a:cubicBezTo>
                  <a:close/>
                </a:path>
              </a:pathLst>
            </a:custGeom>
            <a:solidFill>
              <a:srgbClr val="F6EBD4"/>
            </a:solidFill>
          </p:spPr>
        </p:sp>
        <p:sp>
          <p:nvSpPr>
            <p:cNvPr name="Freeform 11" id="11"/>
            <p:cNvSpPr/>
            <p:nvPr/>
          </p:nvSpPr>
          <p:spPr>
            <a:xfrm flipH="false" flipV="false" rot="0">
              <a:off x="0" y="0"/>
              <a:ext cx="12644755" cy="4145153"/>
            </a:xfrm>
            <a:custGeom>
              <a:avLst/>
              <a:gdLst/>
              <a:ahLst/>
              <a:cxnLst/>
              <a:rect r="r" b="b" t="t" l="l"/>
              <a:pathLst>
                <a:path h="4145153" w="12644755">
                  <a:moveTo>
                    <a:pt x="0" y="592455"/>
                  </a:moveTo>
                  <a:cubicBezTo>
                    <a:pt x="0" y="265049"/>
                    <a:pt x="267589" y="0"/>
                    <a:pt x="597154" y="0"/>
                  </a:cubicBezTo>
                  <a:lnTo>
                    <a:pt x="12047601" y="0"/>
                  </a:lnTo>
                  <a:lnTo>
                    <a:pt x="12047601" y="25400"/>
                  </a:lnTo>
                  <a:lnTo>
                    <a:pt x="12047601" y="0"/>
                  </a:lnTo>
                  <a:cubicBezTo>
                    <a:pt x="12377166" y="0"/>
                    <a:pt x="12644755" y="265049"/>
                    <a:pt x="12644755" y="592455"/>
                  </a:cubicBezTo>
                  <a:lnTo>
                    <a:pt x="12619355" y="592455"/>
                  </a:lnTo>
                  <a:lnTo>
                    <a:pt x="12644755" y="592455"/>
                  </a:lnTo>
                  <a:lnTo>
                    <a:pt x="12644755" y="3552698"/>
                  </a:lnTo>
                  <a:lnTo>
                    <a:pt x="12619355" y="3552698"/>
                  </a:lnTo>
                  <a:lnTo>
                    <a:pt x="12644755" y="3552698"/>
                  </a:lnTo>
                  <a:cubicBezTo>
                    <a:pt x="12644755" y="3880104"/>
                    <a:pt x="12377166" y="4145153"/>
                    <a:pt x="12047601" y="4145153"/>
                  </a:cubicBezTo>
                  <a:lnTo>
                    <a:pt x="12047601" y="4119753"/>
                  </a:lnTo>
                  <a:lnTo>
                    <a:pt x="12047601" y="4145153"/>
                  </a:lnTo>
                  <a:lnTo>
                    <a:pt x="597154" y="4145153"/>
                  </a:lnTo>
                  <a:lnTo>
                    <a:pt x="597154" y="4119753"/>
                  </a:lnTo>
                  <a:lnTo>
                    <a:pt x="597154" y="4145153"/>
                  </a:lnTo>
                  <a:cubicBezTo>
                    <a:pt x="267589" y="4145153"/>
                    <a:pt x="0" y="3880104"/>
                    <a:pt x="0" y="3552698"/>
                  </a:cubicBezTo>
                  <a:lnTo>
                    <a:pt x="0" y="592455"/>
                  </a:lnTo>
                  <a:lnTo>
                    <a:pt x="25400" y="592455"/>
                  </a:lnTo>
                  <a:lnTo>
                    <a:pt x="0" y="592455"/>
                  </a:lnTo>
                  <a:moveTo>
                    <a:pt x="50800" y="592455"/>
                  </a:moveTo>
                  <a:lnTo>
                    <a:pt x="50800" y="3552698"/>
                  </a:lnTo>
                  <a:lnTo>
                    <a:pt x="25400" y="3552698"/>
                  </a:lnTo>
                  <a:lnTo>
                    <a:pt x="50800" y="3552698"/>
                  </a:lnTo>
                  <a:cubicBezTo>
                    <a:pt x="50800" y="3851656"/>
                    <a:pt x="295275" y="4094353"/>
                    <a:pt x="597154" y="4094353"/>
                  </a:cubicBezTo>
                  <a:lnTo>
                    <a:pt x="12047601" y="4094353"/>
                  </a:lnTo>
                  <a:cubicBezTo>
                    <a:pt x="12349607" y="4094353"/>
                    <a:pt x="12593955" y="3851656"/>
                    <a:pt x="12593955" y="3552698"/>
                  </a:cubicBezTo>
                  <a:lnTo>
                    <a:pt x="12593955" y="592455"/>
                  </a:lnTo>
                  <a:cubicBezTo>
                    <a:pt x="12594082" y="293497"/>
                    <a:pt x="12349607" y="50800"/>
                    <a:pt x="12047601" y="50800"/>
                  </a:cubicBezTo>
                  <a:lnTo>
                    <a:pt x="597154" y="50800"/>
                  </a:lnTo>
                  <a:lnTo>
                    <a:pt x="597154" y="25400"/>
                  </a:lnTo>
                  <a:lnTo>
                    <a:pt x="597154" y="50800"/>
                  </a:lnTo>
                  <a:cubicBezTo>
                    <a:pt x="295275" y="50800"/>
                    <a:pt x="50800" y="293497"/>
                    <a:pt x="50800" y="592455"/>
                  </a:cubicBezTo>
                  <a:close/>
                </a:path>
              </a:pathLst>
            </a:custGeom>
            <a:solidFill>
              <a:srgbClr val="626C3B"/>
            </a:solidFill>
          </p:spPr>
        </p:sp>
      </p:grpSp>
      <p:sp>
        <p:nvSpPr>
          <p:cNvPr name="TextBox 12" id="12"/>
          <p:cNvSpPr txBox="true"/>
          <p:nvPr/>
        </p:nvSpPr>
        <p:spPr>
          <a:xfrm rot="0">
            <a:off x="8171859" y="3539881"/>
            <a:ext cx="3614442"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Tier-2 City Expansion</a:t>
            </a:r>
          </a:p>
        </p:txBody>
      </p:sp>
      <p:sp>
        <p:nvSpPr>
          <p:cNvPr name="TextBox 13" id="13"/>
          <p:cNvSpPr txBox="true"/>
          <p:nvPr/>
        </p:nvSpPr>
        <p:spPr>
          <a:xfrm rot="0">
            <a:off x="8171859" y="4086225"/>
            <a:ext cx="8802291" cy="1919287"/>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Geographic data reveals underperforming regions with significant population density. These markets show lower order volumes despite strong demographic profiles, presenting immediate expansion opportunities.</a:t>
            </a:r>
          </a:p>
        </p:txBody>
      </p:sp>
      <p:grpSp>
        <p:nvGrpSpPr>
          <p:cNvPr name="Group 14" id="14"/>
          <p:cNvGrpSpPr/>
          <p:nvPr/>
        </p:nvGrpSpPr>
        <p:grpSpPr>
          <a:xfrm rot="0">
            <a:off x="7831188" y="6591595"/>
            <a:ext cx="9483623" cy="2655246"/>
            <a:chOff x="0" y="0"/>
            <a:chExt cx="12644831" cy="3540328"/>
          </a:xfrm>
        </p:grpSpPr>
        <p:sp>
          <p:nvSpPr>
            <p:cNvPr name="Freeform 15" id="15"/>
            <p:cNvSpPr/>
            <p:nvPr/>
          </p:nvSpPr>
          <p:spPr>
            <a:xfrm flipH="false" flipV="false" rot="0">
              <a:off x="25400" y="25400"/>
              <a:ext cx="12594082" cy="3489452"/>
            </a:xfrm>
            <a:custGeom>
              <a:avLst/>
              <a:gdLst/>
              <a:ahLst/>
              <a:cxnLst/>
              <a:rect r="r" b="b" t="t" l="l"/>
              <a:pathLst>
                <a:path h="3489452" w="12594082">
                  <a:moveTo>
                    <a:pt x="0" y="567055"/>
                  </a:moveTo>
                  <a:cubicBezTo>
                    <a:pt x="0" y="253873"/>
                    <a:pt x="256540" y="0"/>
                    <a:pt x="573024" y="0"/>
                  </a:cubicBezTo>
                  <a:lnTo>
                    <a:pt x="12021058" y="0"/>
                  </a:lnTo>
                  <a:cubicBezTo>
                    <a:pt x="12337542" y="0"/>
                    <a:pt x="12594082" y="253873"/>
                    <a:pt x="12594082" y="567055"/>
                  </a:cubicBezTo>
                  <a:lnTo>
                    <a:pt x="12594082" y="2922397"/>
                  </a:lnTo>
                  <a:cubicBezTo>
                    <a:pt x="12594082" y="3235579"/>
                    <a:pt x="12337542" y="3489452"/>
                    <a:pt x="12021058" y="3489452"/>
                  </a:cubicBezTo>
                  <a:lnTo>
                    <a:pt x="573024" y="3489452"/>
                  </a:lnTo>
                  <a:cubicBezTo>
                    <a:pt x="256540" y="3489579"/>
                    <a:pt x="0" y="3235579"/>
                    <a:pt x="0" y="2922397"/>
                  </a:cubicBezTo>
                  <a:close/>
                </a:path>
              </a:pathLst>
            </a:custGeom>
            <a:solidFill>
              <a:srgbClr val="F6EBD4"/>
            </a:solidFill>
          </p:spPr>
        </p:sp>
        <p:sp>
          <p:nvSpPr>
            <p:cNvPr name="Freeform 16" id="16"/>
            <p:cNvSpPr/>
            <p:nvPr/>
          </p:nvSpPr>
          <p:spPr>
            <a:xfrm flipH="false" flipV="false" rot="0">
              <a:off x="0" y="0"/>
              <a:ext cx="12644882" cy="3540252"/>
            </a:xfrm>
            <a:custGeom>
              <a:avLst/>
              <a:gdLst/>
              <a:ahLst/>
              <a:cxnLst/>
              <a:rect r="r" b="b" t="t" l="l"/>
              <a:pathLst>
                <a:path h="3540252" w="12644882">
                  <a:moveTo>
                    <a:pt x="0" y="592455"/>
                  </a:moveTo>
                  <a:cubicBezTo>
                    <a:pt x="0" y="265049"/>
                    <a:pt x="268224" y="0"/>
                    <a:pt x="598424" y="0"/>
                  </a:cubicBezTo>
                  <a:lnTo>
                    <a:pt x="12046458" y="0"/>
                  </a:lnTo>
                  <a:lnTo>
                    <a:pt x="12046458" y="25400"/>
                  </a:lnTo>
                  <a:lnTo>
                    <a:pt x="12046458" y="0"/>
                  </a:lnTo>
                  <a:cubicBezTo>
                    <a:pt x="12376658" y="0"/>
                    <a:pt x="12644882" y="265049"/>
                    <a:pt x="12644882" y="592455"/>
                  </a:cubicBezTo>
                  <a:lnTo>
                    <a:pt x="12619482" y="592455"/>
                  </a:lnTo>
                  <a:lnTo>
                    <a:pt x="12644882" y="592455"/>
                  </a:lnTo>
                  <a:lnTo>
                    <a:pt x="12644882" y="2947797"/>
                  </a:lnTo>
                  <a:lnTo>
                    <a:pt x="12619482" y="2947797"/>
                  </a:lnTo>
                  <a:lnTo>
                    <a:pt x="12644882" y="2947797"/>
                  </a:lnTo>
                  <a:cubicBezTo>
                    <a:pt x="12644882" y="3275203"/>
                    <a:pt x="12376658" y="3540252"/>
                    <a:pt x="12046458" y="3540252"/>
                  </a:cubicBezTo>
                  <a:lnTo>
                    <a:pt x="12046458" y="3514852"/>
                  </a:lnTo>
                  <a:lnTo>
                    <a:pt x="12046458" y="3540252"/>
                  </a:lnTo>
                  <a:lnTo>
                    <a:pt x="598424" y="3540252"/>
                  </a:lnTo>
                  <a:lnTo>
                    <a:pt x="598424" y="3514852"/>
                  </a:lnTo>
                  <a:lnTo>
                    <a:pt x="598424" y="3540252"/>
                  </a:lnTo>
                  <a:cubicBezTo>
                    <a:pt x="268224" y="3540379"/>
                    <a:pt x="0" y="3275330"/>
                    <a:pt x="0" y="2947797"/>
                  </a:cubicBezTo>
                  <a:lnTo>
                    <a:pt x="0" y="592455"/>
                  </a:lnTo>
                  <a:lnTo>
                    <a:pt x="25400" y="592455"/>
                  </a:lnTo>
                  <a:lnTo>
                    <a:pt x="0" y="592455"/>
                  </a:lnTo>
                  <a:moveTo>
                    <a:pt x="50800" y="592455"/>
                  </a:moveTo>
                  <a:lnTo>
                    <a:pt x="50800" y="2947797"/>
                  </a:lnTo>
                  <a:lnTo>
                    <a:pt x="25400" y="2947797"/>
                  </a:lnTo>
                  <a:lnTo>
                    <a:pt x="50800" y="2947797"/>
                  </a:lnTo>
                  <a:cubicBezTo>
                    <a:pt x="50800" y="3246755"/>
                    <a:pt x="295783" y="3489452"/>
                    <a:pt x="598424" y="3489452"/>
                  </a:cubicBezTo>
                  <a:lnTo>
                    <a:pt x="12046458" y="3489452"/>
                  </a:lnTo>
                  <a:cubicBezTo>
                    <a:pt x="12349099" y="3489452"/>
                    <a:pt x="12594082" y="3246628"/>
                    <a:pt x="12594082" y="2947797"/>
                  </a:cubicBezTo>
                  <a:lnTo>
                    <a:pt x="12594082" y="592455"/>
                  </a:lnTo>
                  <a:cubicBezTo>
                    <a:pt x="12594082" y="293624"/>
                    <a:pt x="12349099" y="50800"/>
                    <a:pt x="12046458" y="50800"/>
                  </a:cubicBezTo>
                  <a:lnTo>
                    <a:pt x="598424" y="50800"/>
                  </a:lnTo>
                  <a:lnTo>
                    <a:pt x="598424" y="25400"/>
                  </a:lnTo>
                  <a:lnTo>
                    <a:pt x="598424" y="50800"/>
                  </a:lnTo>
                  <a:cubicBezTo>
                    <a:pt x="295783" y="50800"/>
                    <a:pt x="50800" y="293624"/>
                    <a:pt x="50800" y="592455"/>
                  </a:cubicBezTo>
                  <a:close/>
                </a:path>
              </a:pathLst>
            </a:custGeom>
            <a:solidFill>
              <a:srgbClr val="83792E"/>
            </a:solidFill>
          </p:spPr>
        </p:sp>
      </p:grpSp>
      <p:sp>
        <p:nvSpPr>
          <p:cNvPr name="TextBox 17" id="17"/>
          <p:cNvSpPr txBox="true"/>
          <p:nvPr/>
        </p:nvSpPr>
        <p:spPr>
          <a:xfrm rot="0">
            <a:off x="8171859" y="6894166"/>
            <a:ext cx="4498181"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Distribution Network Gaps</a:t>
            </a:r>
          </a:p>
        </p:txBody>
      </p:sp>
      <p:sp>
        <p:nvSpPr>
          <p:cNvPr name="TextBox 18" id="18"/>
          <p:cNvSpPr txBox="true"/>
          <p:nvPr/>
        </p:nvSpPr>
        <p:spPr>
          <a:xfrm rot="0">
            <a:off x="8171859" y="7440511"/>
            <a:ext cx="8802291" cy="1465659"/>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Analysis indicates logistics and supply chain limitations in certain zones. Strengthening infrastructure in these areas could unlock substantial revenue growth whilst improving delivery times.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815283" y="604095"/>
            <a:ext cx="10452649" cy="766020"/>
          </a:xfrm>
          <a:prstGeom prst="rect">
            <a:avLst/>
          </a:prstGeom>
        </p:spPr>
        <p:txBody>
          <a:bodyPr anchor="t" rtlCol="false" tIns="0" lIns="0" bIns="0" rIns="0">
            <a:spAutoFit/>
          </a:bodyPr>
          <a:lstStyle/>
          <a:p>
            <a:pPr algn="l">
              <a:lnSpc>
                <a:spcPts val="5687"/>
              </a:lnSpc>
            </a:pPr>
            <a:r>
              <a:rPr lang="en-US" sz="4562" b="true">
                <a:solidFill>
                  <a:srgbClr val="403011"/>
                </a:solidFill>
                <a:latin typeface="Arimo Bold"/>
                <a:ea typeface="Arimo Bold"/>
                <a:cs typeface="Arimo Bold"/>
                <a:sym typeface="Arimo Bold"/>
              </a:rPr>
              <a:t>Customer Experience: Rating Analysis</a:t>
            </a:r>
          </a:p>
        </p:txBody>
      </p:sp>
      <p:sp>
        <p:nvSpPr>
          <p:cNvPr name="TextBox 7" id="7"/>
          <p:cNvSpPr txBox="true"/>
          <p:nvPr/>
        </p:nvSpPr>
        <p:spPr>
          <a:xfrm rot="0">
            <a:off x="815283" y="1750219"/>
            <a:ext cx="16657434" cy="458391"/>
          </a:xfrm>
          <a:prstGeom prst="rect">
            <a:avLst/>
          </a:prstGeom>
        </p:spPr>
        <p:txBody>
          <a:bodyPr anchor="t" rtlCol="false" tIns="0" lIns="0" bIns="0" rIns="0">
            <a:spAutoFit/>
          </a:bodyPr>
          <a:lstStyle/>
          <a:p>
            <a:pPr algn="l">
              <a:lnSpc>
                <a:spcPts val="2875"/>
              </a:lnSpc>
            </a:pPr>
            <a:r>
              <a:rPr lang="en-US" sz="1812">
                <a:solidFill>
                  <a:srgbClr val="403011"/>
                </a:solidFill>
                <a:latin typeface="Arimo"/>
                <a:ea typeface="Arimo"/>
                <a:cs typeface="Arimo"/>
                <a:sym typeface="Arimo"/>
              </a:rPr>
              <a:t>Understanding customer satisfaction drivers to enhance service quality and product offerings.</a:t>
            </a:r>
          </a:p>
        </p:txBody>
      </p:sp>
      <p:sp>
        <p:nvSpPr>
          <p:cNvPr name="TextBox 8" id="8"/>
          <p:cNvSpPr txBox="true"/>
          <p:nvPr/>
        </p:nvSpPr>
        <p:spPr>
          <a:xfrm rot="0">
            <a:off x="2061715" y="4051249"/>
            <a:ext cx="2865234" cy="515693"/>
          </a:xfrm>
          <a:prstGeom prst="rect">
            <a:avLst/>
          </a:prstGeom>
        </p:spPr>
        <p:txBody>
          <a:bodyPr anchor="t" rtlCol="false" tIns="0" lIns="0" bIns="0" rIns="0">
            <a:spAutoFit/>
          </a:bodyPr>
          <a:lstStyle/>
          <a:p>
            <a:pPr algn="ctr">
              <a:lnSpc>
                <a:spcPts val="4562"/>
              </a:lnSpc>
            </a:pPr>
            <a:r>
              <a:rPr lang="en-US" sz="4562" b="true">
                <a:solidFill>
                  <a:srgbClr val="403011"/>
                </a:solidFill>
                <a:latin typeface="Arimo Bold"/>
                <a:ea typeface="Arimo Bold"/>
                <a:cs typeface="Arimo Bold"/>
                <a:sym typeface="Arimo Bold"/>
              </a:rPr>
              <a:t>85%</a:t>
            </a:r>
          </a:p>
        </p:txBody>
      </p:sp>
      <p:grpSp>
        <p:nvGrpSpPr>
          <p:cNvPr name="Group 9" id="9"/>
          <p:cNvGrpSpPr/>
          <p:nvPr/>
        </p:nvGrpSpPr>
        <p:grpSpPr>
          <a:xfrm rot="0">
            <a:off x="1747247" y="2528735"/>
            <a:ext cx="3494332" cy="3494332"/>
            <a:chOff x="0" y="0"/>
            <a:chExt cx="4659109" cy="4659109"/>
          </a:xfrm>
        </p:grpSpPr>
        <p:sp>
          <p:nvSpPr>
            <p:cNvPr name="Freeform 10" id="10" descr="preencoded.png"/>
            <p:cNvSpPr/>
            <p:nvPr/>
          </p:nvSpPr>
          <p:spPr>
            <a:xfrm flipH="false" flipV="false" rot="0">
              <a:off x="0" y="0"/>
              <a:ext cx="4659122" cy="4659122"/>
            </a:xfrm>
            <a:custGeom>
              <a:avLst/>
              <a:gdLst/>
              <a:ahLst/>
              <a:cxnLst/>
              <a:rect r="r" b="b" t="t" l="l"/>
              <a:pathLst>
                <a:path h="4659122" w="4659122">
                  <a:moveTo>
                    <a:pt x="0" y="0"/>
                  </a:moveTo>
                  <a:lnTo>
                    <a:pt x="4659122" y="0"/>
                  </a:lnTo>
                  <a:lnTo>
                    <a:pt x="4659122" y="4659122"/>
                  </a:lnTo>
                  <a:lnTo>
                    <a:pt x="0" y="4659122"/>
                  </a:lnTo>
                  <a:lnTo>
                    <a:pt x="0" y="0"/>
                  </a:lnTo>
                  <a:close/>
                </a:path>
              </a:pathLst>
            </a:custGeom>
            <a:blipFill>
              <a:blip r:embed="rId3"/>
              <a:stretch>
                <a:fillRect l="0" t="0" r="0" b="0"/>
              </a:stretch>
            </a:blipFill>
          </p:spPr>
        </p:sp>
      </p:grpSp>
      <p:sp>
        <p:nvSpPr>
          <p:cNvPr name="TextBox 11" id="11"/>
          <p:cNvSpPr txBox="true"/>
          <p:nvPr/>
        </p:nvSpPr>
        <p:spPr>
          <a:xfrm rot="0">
            <a:off x="2038502" y="6285605"/>
            <a:ext cx="2911973" cy="392611"/>
          </a:xfrm>
          <a:prstGeom prst="rect">
            <a:avLst/>
          </a:prstGeom>
        </p:spPr>
        <p:txBody>
          <a:bodyPr anchor="t" rtlCol="false" tIns="0" lIns="0" bIns="0" rIns="0">
            <a:spAutoFit/>
          </a:bodyPr>
          <a:lstStyle/>
          <a:p>
            <a:pPr algn="ctr">
              <a:lnSpc>
                <a:spcPts val="2812"/>
              </a:lnSpc>
            </a:pPr>
            <a:r>
              <a:rPr lang="en-US" sz="2249" b="true">
                <a:solidFill>
                  <a:srgbClr val="403011"/>
                </a:solidFill>
                <a:latin typeface="Arimo Bold"/>
                <a:ea typeface="Arimo Bold"/>
                <a:cs typeface="Arimo Bold"/>
                <a:sym typeface="Arimo Bold"/>
              </a:rPr>
              <a:t>Positive Ratings</a:t>
            </a:r>
          </a:p>
        </p:txBody>
      </p:sp>
      <p:sp>
        <p:nvSpPr>
          <p:cNvPr name="TextBox 12" id="12"/>
          <p:cNvSpPr txBox="true"/>
          <p:nvPr/>
        </p:nvSpPr>
        <p:spPr>
          <a:xfrm rot="0">
            <a:off x="815283" y="6732241"/>
            <a:ext cx="5358403" cy="458391"/>
          </a:xfrm>
          <a:prstGeom prst="rect">
            <a:avLst/>
          </a:prstGeom>
        </p:spPr>
        <p:txBody>
          <a:bodyPr anchor="t" rtlCol="false" tIns="0" lIns="0" bIns="0" rIns="0">
            <a:spAutoFit/>
          </a:bodyPr>
          <a:lstStyle/>
          <a:p>
            <a:pPr algn="ctr">
              <a:lnSpc>
                <a:spcPts val="2875"/>
              </a:lnSpc>
            </a:pPr>
            <a:r>
              <a:rPr lang="en-US" sz="1812">
                <a:solidFill>
                  <a:srgbClr val="403011"/>
                </a:solidFill>
                <a:latin typeface="Arimo"/>
                <a:ea typeface="Arimo"/>
                <a:cs typeface="Arimo"/>
                <a:sym typeface="Arimo"/>
              </a:rPr>
              <a:t>4-5 star reviews indicating strong satisfaction</a:t>
            </a:r>
          </a:p>
        </p:txBody>
      </p:sp>
      <p:sp>
        <p:nvSpPr>
          <p:cNvPr name="TextBox 13" id="13"/>
          <p:cNvSpPr txBox="true"/>
          <p:nvPr/>
        </p:nvSpPr>
        <p:spPr>
          <a:xfrm rot="0">
            <a:off x="7711230" y="4051249"/>
            <a:ext cx="2865234" cy="515693"/>
          </a:xfrm>
          <a:prstGeom prst="rect">
            <a:avLst/>
          </a:prstGeom>
        </p:spPr>
        <p:txBody>
          <a:bodyPr anchor="t" rtlCol="false" tIns="0" lIns="0" bIns="0" rIns="0">
            <a:spAutoFit/>
          </a:bodyPr>
          <a:lstStyle/>
          <a:p>
            <a:pPr algn="ctr">
              <a:lnSpc>
                <a:spcPts val="4562"/>
              </a:lnSpc>
            </a:pPr>
            <a:r>
              <a:rPr lang="en-US" sz="4562" b="true">
                <a:solidFill>
                  <a:srgbClr val="403011"/>
                </a:solidFill>
                <a:latin typeface="Arimo Bold"/>
                <a:ea typeface="Arimo Bold"/>
                <a:cs typeface="Arimo Bold"/>
                <a:sym typeface="Arimo Bold"/>
              </a:rPr>
              <a:t>12%</a:t>
            </a:r>
          </a:p>
        </p:txBody>
      </p:sp>
      <p:grpSp>
        <p:nvGrpSpPr>
          <p:cNvPr name="Group 14" id="14"/>
          <p:cNvGrpSpPr/>
          <p:nvPr/>
        </p:nvGrpSpPr>
        <p:grpSpPr>
          <a:xfrm rot="0">
            <a:off x="7396753" y="2528735"/>
            <a:ext cx="3494332" cy="3494332"/>
            <a:chOff x="0" y="0"/>
            <a:chExt cx="4659109" cy="4659109"/>
          </a:xfrm>
        </p:grpSpPr>
        <p:sp>
          <p:nvSpPr>
            <p:cNvPr name="Freeform 15" id="15" descr="preencoded.png"/>
            <p:cNvSpPr/>
            <p:nvPr/>
          </p:nvSpPr>
          <p:spPr>
            <a:xfrm flipH="false" flipV="false" rot="0">
              <a:off x="0" y="0"/>
              <a:ext cx="4659122" cy="4659122"/>
            </a:xfrm>
            <a:custGeom>
              <a:avLst/>
              <a:gdLst/>
              <a:ahLst/>
              <a:cxnLst/>
              <a:rect r="r" b="b" t="t" l="l"/>
              <a:pathLst>
                <a:path h="4659122" w="4659122">
                  <a:moveTo>
                    <a:pt x="0" y="0"/>
                  </a:moveTo>
                  <a:lnTo>
                    <a:pt x="4659122" y="0"/>
                  </a:lnTo>
                  <a:lnTo>
                    <a:pt x="4659122" y="4659122"/>
                  </a:lnTo>
                  <a:lnTo>
                    <a:pt x="0" y="4659122"/>
                  </a:lnTo>
                  <a:lnTo>
                    <a:pt x="0" y="0"/>
                  </a:lnTo>
                  <a:close/>
                </a:path>
              </a:pathLst>
            </a:custGeom>
            <a:blipFill>
              <a:blip r:embed="rId4"/>
              <a:stretch>
                <a:fillRect l="0" t="0" r="0" b="0"/>
              </a:stretch>
            </a:blipFill>
          </p:spPr>
        </p:sp>
      </p:grpSp>
      <p:sp>
        <p:nvSpPr>
          <p:cNvPr name="TextBox 16" id="16"/>
          <p:cNvSpPr txBox="true"/>
          <p:nvPr/>
        </p:nvSpPr>
        <p:spPr>
          <a:xfrm rot="0">
            <a:off x="7688018" y="6285605"/>
            <a:ext cx="2911973" cy="392611"/>
          </a:xfrm>
          <a:prstGeom prst="rect">
            <a:avLst/>
          </a:prstGeom>
        </p:spPr>
        <p:txBody>
          <a:bodyPr anchor="t" rtlCol="false" tIns="0" lIns="0" bIns="0" rIns="0">
            <a:spAutoFit/>
          </a:bodyPr>
          <a:lstStyle/>
          <a:p>
            <a:pPr algn="ctr">
              <a:lnSpc>
                <a:spcPts val="2812"/>
              </a:lnSpc>
            </a:pPr>
            <a:r>
              <a:rPr lang="en-US" sz="2249" b="true">
                <a:solidFill>
                  <a:srgbClr val="403011"/>
                </a:solidFill>
                <a:latin typeface="Arimo Bold"/>
                <a:ea typeface="Arimo Bold"/>
                <a:cs typeface="Arimo Bold"/>
                <a:sym typeface="Arimo Bold"/>
              </a:rPr>
              <a:t>Neutral Ratings</a:t>
            </a:r>
          </a:p>
        </p:txBody>
      </p:sp>
      <p:sp>
        <p:nvSpPr>
          <p:cNvPr name="TextBox 17" id="17"/>
          <p:cNvSpPr txBox="true"/>
          <p:nvPr/>
        </p:nvSpPr>
        <p:spPr>
          <a:xfrm rot="0">
            <a:off x="6464798" y="6732241"/>
            <a:ext cx="5358403" cy="458391"/>
          </a:xfrm>
          <a:prstGeom prst="rect">
            <a:avLst/>
          </a:prstGeom>
        </p:spPr>
        <p:txBody>
          <a:bodyPr anchor="t" rtlCol="false" tIns="0" lIns="0" bIns="0" rIns="0">
            <a:spAutoFit/>
          </a:bodyPr>
          <a:lstStyle/>
          <a:p>
            <a:pPr algn="ctr">
              <a:lnSpc>
                <a:spcPts val="2875"/>
              </a:lnSpc>
            </a:pPr>
            <a:r>
              <a:rPr lang="en-US" sz="1812">
                <a:solidFill>
                  <a:srgbClr val="403011"/>
                </a:solidFill>
                <a:latin typeface="Arimo"/>
                <a:ea typeface="Arimo"/>
                <a:cs typeface="Arimo"/>
                <a:sym typeface="Arimo"/>
              </a:rPr>
              <a:t>3-star reviews showing room for improvement</a:t>
            </a:r>
          </a:p>
        </p:txBody>
      </p:sp>
      <p:sp>
        <p:nvSpPr>
          <p:cNvPr name="TextBox 18" id="18"/>
          <p:cNvSpPr txBox="true"/>
          <p:nvPr/>
        </p:nvSpPr>
        <p:spPr>
          <a:xfrm rot="0">
            <a:off x="13360746" y="4051249"/>
            <a:ext cx="2865234" cy="515693"/>
          </a:xfrm>
          <a:prstGeom prst="rect">
            <a:avLst/>
          </a:prstGeom>
        </p:spPr>
        <p:txBody>
          <a:bodyPr anchor="t" rtlCol="false" tIns="0" lIns="0" bIns="0" rIns="0">
            <a:spAutoFit/>
          </a:bodyPr>
          <a:lstStyle/>
          <a:p>
            <a:pPr algn="ctr">
              <a:lnSpc>
                <a:spcPts val="4562"/>
              </a:lnSpc>
            </a:pPr>
            <a:r>
              <a:rPr lang="en-US" sz="4562" b="true">
                <a:solidFill>
                  <a:srgbClr val="403011"/>
                </a:solidFill>
                <a:latin typeface="Arimo Bold"/>
                <a:ea typeface="Arimo Bold"/>
                <a:cs typeface="Arimo Bold"/>
                <a:sym typeface="Arimo Bold"/>
              </a:rPr>
              <a:t>3%</a:t>
            </a:r>
          </a:p>
        </p:txBody>
      </p:sp>
      <p:grpSp>
        <p:nvGrpSpPr>
          <p:cNvPr name="Group 19" id="19"/>
          <p:cNvGrpSpPr/>
          <p:nvPr/>
        </p:nvGrpSpPr>
        <p:grpSpPr>
          <a:xfrm rot="0">
            <a:off x="13046278" y="2528735"/>
            <a:ext cx="3494332" cy="3494332"/>
            <a:chOff x="0" y="0"/>
            <a:chExt cx="4659109" cy="4659109"/>
          </a:xfrm>
        </p:grpSpPr>
        <p:sp>
          <p:nvSpPr>
            <p:cNvPr name="Freeform 20" id="20" descr="preencoded.png"/>
            <p:cNvSpPr/>
            <p:nvPr/>
          </p:nvSpPr>
          <p:spPr>
            <a:xfrm flipH="false" flipV="false" rot="0">
              <a:off x="0" y="0"/>
              <a:ext cx="4659122" cy="4659122"/>
            </a:xfrm>
            <a:custGeom>
              <a:avLst/>
              <a:gdLst/>
              <a:ahLst/>
              <a:cxnLst/>
              <a:rect r="r" b="b" t="t" l="l"/>
              <a:pathLst>
                <a:path h="4659122" w="4659122">
                  <a:moveTo>
                    <a:pt x="0" y="0"/>
                  </a:moveTo>
                  <a:lnTo>
                    <a:pt x="4659122" y="0"/>
                  </a:lnTo>
                  <a:lnTo>
                    <a:pt x="4659122" y="4659122"/>
                  </a:lnTo>
                  <a:lnTo>
                    <a:pt x="0" y="4659122"/>
                  </a:lnTo>
                  <a:lnTo>
                    <a:pt x="0" y="0"/>
                  </a:lnTo>
                  <a:close/>
                </a:path>
              </a:pathLst>
            </a:custGeom>
            <a:blipFill>
              <a:blip r:embed="rId5"/>
              <a:stretch>
                <a:fillRect l="0" t="0" r="0" b="0"/>
              </a:stretch>
            </a:blipFill>
          </p:spPr>
        </p:sp>
      </p:grpSp>
      <p:sp>
        <p:nvSpPr>
          <p:cNvPr name="TextBox 21" id="21"/>
          <p:cNvSpPr txBox="true"/>
          <p:nvPr/>
        </p:nvSpPr>
        <p:spPr>
          <a:xfrm rot="0">
            <a:off x="13337534" y="6285605"/>
            <a:ext cx="2911973" cy="392611"/>
          </a:xfrm>
          <a:prstGeom prst="rect">
            <a:avLst/>
          </a:prstGeom>
        </p:spPr>
        <p:txBody>
          <a:bodyPr anchor="t" rtlCol="false" tIns="0" lIns="0" bIns="0" rIns="0">
            <a:spAutoFit/>
          </a:bodyPr>
          <a:lstStyle/>
          <a:p>
            <a:pPr algn="ctr">
              <a:lnSpc>
                <a:spcPts val="2812"/>
              </a:lnSpc>
            </a:pPr>
            <a:r>
              <a:rPr lang="en-US" sz="2249" b="true">
                <a:solidFill>
                  <a:srgbClr val="403011"/>
                </a:solidFill>
                <a:latin typeface="Arimo Bold"/>
                <a:ea typeface="Arimo Bold"/>
                <a:cs typeface="Arimo Bold"/>
                <a:sym typeface="Arimo Bold"/>
              </a:rPr>
              <a:t>Negative Ratings</a:t>
            </a:r>
          </a:p>
        </p:txBody>
      </p:sp>
      <p:sp>
        <p:nvSpPr>
          <p:cNvPr name="TextBox 22" id="22"/>
          <p:cNvSpPr txBox="true"/>
          <p:nvPr/>
        </p:nvSpPr>
        <p:spPr>
          <a:xfrm rot="0">
            <a:off x="12114314" y="6732241"/>
            <a:ext cx="5358403" cy="458391"/>
          </a:xfrm>
          <a:prstGeom prst="rect">
            <a:avLst/>
          </a:prstGeom>
        </p:spPr>
        <p:txBody>
          <a:bodyPr anchor="t" rtlCol="false" tIns="0" lIns="0" bIns="0" rIns="0">
            <a:spAutoFit/>
          </a:bodyPr>
          <a:lstStyle/>
          <a:p>
            <a:pPr algn="ctr">
              <a:lnSpc>
                <a:spcPts val="2875"/>
              </a:lnSpc>
            </a:pPr>
            <a:r>
              <a:rPr lang="en-US" sz="1812">
                <a:solidFill>
                  <a:srgbClr val="403011"/>
                </a:solidFill>
                <a:latin typeface="Arimo"/>
                <a:ea typeface="Arimo"/>
                <a:cs typeface="Arimo"/>
                <a:sym typeface="Arimo"/>
              </a:rPr>
              <a:t>1-2 star reviews requiring immediate attention</a:t>
            </a:r>
          </a:p>
        </p:txBody>
      </p:sp>
      <p:sp>
        <p:nvSpPr>
          <p:cNvPr name="TextBox 23" id="23"/>
          <p:cNvSpPr txBox="true"/>
          <p:nvPr/>
        </p:nvSpPr>
        <p:spPr>
          <a:xfrm rot="0">
            <a:off x="815283" y="7656909"/>
            <a:ext cx="2911973" cy="392611"/>
          </a:xfrm>
          <a:prstGeom prst="rect">
            <a:avLst/>
          </a:prstGeom>
        </p:spPr>
        <p:txBody>
          <a:bodyPr anchor="t" rtlCol="false" tIns="0" lIns="0" bIns="0" rIns="0">
            <a:spAutoFit/>
          </a:bodyPr>
          <a:lstStyle/>
          <a:p>
            <a:pPr algn="l">
              <a:lnSpc>
                <a:spcPts val="2812"/>
              </a:lnSpc>
            </a:pPr>
            <a:r>
              <a:rPr lang="en-US" sz="2249" b="true">
                <a:solidFill>
                  <a:srgbClr val="403011"/>
                </a:solidFill>
                <a:latin typeface="Arimo Bold"/>
                <a:ea typeface="Arimo Bold"/>
                <a:cs typeface="Arimo Bold"/>
                <a:sym typeface="Arimo Bold"/>
              </a:rPr>
              <a:t>Key Insights</a:t>
            </a:r>
          </a:p>
        </p:txBody>
      </p:sp>
      <p:sp>
        <p:nvSpPr>
          <p:cNvPr name="TextBox 24" id="24"/>
          <p:cNvSpPr txBox="true"/>
          <p:nvPr/>
        </p:nvSpPr>
        <p:spPr>
          <a:xfrm rot="0">
            <a:off x="815283" y="8196710"/>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Strong overall satisfaction with 85% positive ratings</a:t>
            </a:r>
          </a:p>
        </p:txBody>
      </p:sp>
      <p:sp>
        <p:nvSpPr>
          <p:cNvPr name="TextBox 25" id="25"/>
          <p:cNvSpPr txBox="true"/>
          <p:nvPr/>
        </p:nvSpPr>
        <p:spPr>
          <a:xfrm rot="0">
            <a:off x="815283" y="8650786"/>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Neutral ratings often cite delivery delays</a:t>
            </a:r>
          </a:p>
        </p:txBody>
      </p:sp>
      <p:sp>
        <p:nvSpPr>
          <p:cNvPr name="TextBox 26" id="26"/>
          <p:cNvSpPr txBox="true"/>
          <p:nvPr/>
        </p:nvSpPr>
        <p:spPr>
          <a:xfrm rot="0">
            <a:off x="815283" y="9104862"/>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Product quality remains consistent strength</a:t>
            </a:r>
          </a:p>
        </p:txBody>
      </p:sp>
      <p:sp>
        <p:nvSpPr>
          <p:cNvPr name="TextBox 27" id="27"/>
          <p:cNvSpPr txBox="true"/>
          <p:nvPr/>
        </p:nvSpPr>
        <p:spPr>
          <a:xfrm rot="0">
            <a:off x="9437637" y="7656909"/>
            <a:ext cx="2911973" cy="392611"/>
          </a:xfrm>
          <a:prstGeom prst="rect">
            <a:avLst/>
          </a:prstGeom>
        </p:spPr>
        <p:txBody>
          <a:bodyPr anchor="t" rtlCol="false" tIns="0" lIns="0" bIns="0" rIns="0">
            <a:spAutoFit/>
          </a:bodyPr>
          <a:lstStyle/>
          <a:p>
            <a:pPr algn="l">
              <a:lnSpc>
                <a:spcPts val="2812"/>
              </a:lnSpc>
            </a:pPr>
            <a:r>
              <a:rPr lang="en-US" sz="2249" b="true">
                <a:solidFill>
                  <a:srgbClr val="403011"/>
                </a:solidFill>
                <a:latin typeface="Arimo Bold"/>
                <a:ea typeface="Arimo Bold"/>
                <a:cs typeface="Arimo Bold"/>
                <a:sym typeface="Arimo Bold"/>
              </a:rPr>
              <a:t>Improvement Areas</a:t>
            </a:r>
          </a:p>
        </p:txBody>
      </p:sp>
      <p:sp>
        <p:nvSpPr>
          <p:cNvPr name="TextBox 28" id="28"/>
          <p:cNvSpPr txBox="true"/>
          <p:nvPr/>
        </p:nvSpPr>
        <p:spPr>
          <a:xfrm rot="0">
            <a:off x="9437637" y="8196710"/>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Enhance packaging to reduce transit damage</a:t>
            </a:r>
          </a:p>
        </p:txBody>
      </p:sp>
      <p:sp>
        <p:nvSpPr>
          <p:cNvPr name="TextBox 29" id="29"/>
          <p:cNvSpPr txBox="true"/>
          <p:nvPr/>
        </p:nvSpPr>
        <p:spPr>
          <a:xfrm rot="0">
            <a:off x="9437637" y="8650786"/>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Implement faster resolution for complaints</a:t>
            </a:r>
          </a:p>
        </p:txBody>
      </p:sp>
      <p:sp>
        <p:nvSpPr>
          <p:cNvPr name="TextBox 30" id="30"/>
          <p:cNvSpPr txBox="true"/>
          <p:nvPr/>
        </p:nvSpPr>
        <p:spPr>
          <a:xfrm rot="0">
            <a:off x="9437637" y="9104862"/>
            <a:ext cx="8044605" cy="458391"/>
          </a:xfrm>
          <a:prstGeom prst="rect">
            <a:avLst/>
          </a:prstGeom>
        </p:spPr>
        <p:txBody>
          <a:bodyPr anchor="t" rtlCol="false" tIns="0" lIns="0" bIns="0" rIns="0">
            <a:spAutoFit/>
          </a:bodyPr>
          <a:lstStyle/>
          <a:p>
            <a:pPr algn="l" marL="273348" indent="-136674" lvl="1">
              <a:lnSpc>
                <a:spcPts val="2875"/>
              </a:lnSpc>
              <a:buFont typeface="Arial"/>
              <a:buChar char="•"/>
            </a:pPr>
            <a:r>
              <a:rPr lang="en-US" sz="1812">
                <a:solidFill>
                  <a:srgbClr val="403011"/>
                </a:solidFill>
                <a:latin typeface="Arimo"/>
                <a:ea typeface="Arimo"/>
                <a:cs typeface="Arimo"/>
                <a:sym typeface="Arimo"/>
              </a:rPr>
              <a:t>Expand product information and descriptions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992238" y="1876720"/>
            <a:ext cx="8589016" cy="943127"/>
          </a:xfrm>
          <a:prstGeom prst="rect">
            <a:avLst/>
          </a:prstGeom>
        </p:spPr>
        <p:txBody>
          <a:bodyPr anchor="t" rtlCol="false" tIns="0" lIns="0" bIns="0" rIns="0">
            <a:spAutoFit/>
          </a:bodyPr>
          <a:lstStyle/>
          <a:p>
            <a:pPr algn="l">
              <a:lnSpc>
                <a:spcPts val="6937"/>
              </a:lnSpc>
            </a:pPr>
            <a:r>
              <a:rPr lang="en-US" sz="5562" b="true">
                <a:solidFill>
                  <a:srgbClr val="403011"/>
                </a:solidFill>
                <a:latin typeface="Arimo Bold"/>
                <a:ea typeface="Arimo Bold"/>
                <a:cs typeface="Arimo Bold"/>
                <a:sym typeface="Arimo Bold"/>
              </a:rPr>
              <a:t>Top 5 Product Performers</a:t>
            </a:r>
          </a:p>
        </p:txBody>
      </p:sp>
      <p:grpSp>
        <p:nvGrpSpPr>
          <p:cNvPr name="Group 7" id="7"/>
          <p:cNvGrpSpPr/>
          <p:nvPr/>
        </p:nvGrpSpPr>
        <p:grpSpPr>
          <a:xfrm rot="0">
            <a:off x="987476" y="3382118"/>
            <a:ext cx="16313048" cy="3749573"/>
            <a:chOff x="0" y="0"/>
            <a:chExt cx="21750731" cy="4999431"/>
          </a:xfrm>
        </p:grpSpPr>
        <p:sp>
          <p:nvSpPr>
            <p:cNvPr name="Freeform 8" id="8"/>
            <p:cNvSpPr/>
            <p:nvPr/>
          </p:nvSpPr>
          <p:spPr>
            <a:xfrm flipH="false" flipV="false" rot="0">
              <a:off x="6350" y="6350"/>
              <a:ext cx="21738082" cy="4986655"/>
            </a:xfrm>
            <a:custGeom>
              <a:avLst/>
              <a:gdLst/>
              <a:ahLst/>
              <a:cxnLst/>
              <a:rect r="r" b="b" t="t" l="l"/>
              <a:pathLst>
                <a:path h="4986655" w="21738082">
                  <a:moveTo>
                    <a:pt x="0" y="567055"/>
                  </a:moveTo>
                  <a:cubicBezTo>
                    <a:pt x="0" y="253873"/>
                    <a:pt x="254381" y="0"/>
                    <a:pt x="568198" y="0"/>
                  </a:cubicBezTo>
                  <a:lnTo>
                    <a:pt x="21169885" y="0"/>
                  </a:lnTo>
                  <a:cubicBezTo>
                    <a:pt x="21483701" y="0"/>
                    <a:pt x="21738082" y="253873"/>
                    <a:pt x="21738082" y="567055"/>
                  </a:cubicBezTo>
                  <a:lnTo>
                    <a:pt x="21738082" y="4419600"/>
                  </a:lnTo>
                  <a:cubicBezTo>
                    <a:pt x="21738082" y="4732782"/>
                    <a:pt x="21483701" y="4986655"/>
                    <a:pt x="21169885" y="4986655"/>
                  </a:cubicBezTo>
                  <a:lnTo>
                    <a:pt x="568198" y="4986655"/>
                  </a:lnTo>
                  <a:cubicBezTo>
                    <a:pt x="254381" y="4986782"/>
                    <a:pt x="0" y="4732782"/>
                    <a:pt x="0" y="4419600"/>
                  </a:cubicBezTo>
                  <a:close/>
                </a:path>
              </a:pathLst>
            </a:custGeom>
            <a:solidFill>
              <a:srgbClr val="626C3B"/>
            </a:solidFill>
          </p:spPr>
        </p:sp>
        <p:sp>
          <p:nvSpPr>
            <p:cNvPr name="Freeform 9" id="9"/>
            <p:cNvSpPr/>
            <p:nvPr/>
          </p:nvSpPr>
          <p:spPr>
            <a:xfrm flipH="false" flipV="false" rot="0">
              <a:off x="0" y="0"/>
              <a:ext cx="21750782" cy="4999355"/>
            </a:xfrm>
            <a:custGeom>
              <a:avLst/>
              <a:gdLst/>
              <a:ahLst/>
              <a:cxnLst/>
              <a:rect r="r" b="b" t="t" l="l"/>
              <a:pathLst>
                <a:path h="4999355" w="21750782">
                  <a:moveTo>
                    <a:pt x="0" y="573405"/>
                  </a:moveTo>
                  <a:cubicBezTo>
                    <a:pt x="0" y="256667"/>
                    <a:pt x="257302" y="0"/>
                    <a:pt x="574548" y="0"/>
                  </a:cubicBezTo>
                  <a:lnTo>
                    <a:pt x="21176235" y="0"/>
                  </a:lnTo>
                  <a:lnTo>
                    <a:pt x="21176235" y="6350"/>
                  </a:lnTo>
                  <a:lnTo>
                    <a:pt x="21176235" y="0"/>
                  </a:lnTo>
                  <a:cubicBezTo>
                    <a:pt x="21493480" y="0"/>
                    <a:pt x="21750782" y="256667"/>
                    <a:pt x="21750782" y="573405"/>
                  </a:cubicBezTo>
                  <a:lnTo>
                    <a:pt x="21744432" y="573405"/>
                  </a:lnTo>
                  <a:lnTo>
                    <a:pt x="21750782" y="573405"/>
                  </a:lnTo>
                  <a:lnTo>
                    <a:pt x="21750782" y="4425950"/>
                  </a:lnTo>
                  <a:lnTo>
                    <a:pt x="21744432" y="4425950"/>
                  </a:lnTo>
                  <a:lnTo>
                    <a:pt x="21750782" y="4425950"/>
                  </a:lnTo>
                  <a:cubicBezTo>
                    <a:pt x="21750782" y="4742688"/>
                    <a:pt x="21493480" y="4999355"/>
                    <a:pt x="21176235" y="4999355"/>
                  </a:cubicBezTo>
                  <a:lnTo>
                    <a:pt x="21176235" y="4993005"/>
                  </a:lnTo>
                  <a:lnTo>
                    <a:pt x="21176235" y="4999355"/>
                  </a:lnTo>
                  <a:lnTo>
                    <a:pt x="574548" y="4999355"/>
                  </a:lnTo>
                  <a:lnTo>
                    <a:pt x="574548" y="4993005"/>
                  </a:lnTo>
                  <a:lnTo>
                    <a:pt x="574548" y="4999355"/>
                  </a:lnTo>
                  <a:cubicBezTo>
                    <a:pt x="257302" y="4999482"/>
                    <a:pt x="0" y="4742688"/>
                    <a:pt x="0" y="4425950"/>
                  </a:cubicBezTo>
                  <a:lnTo>
                    <a:pt x="0" y="573405"/>
                  </a:lnTo>
                  <a:lnTo>
                    <a:pt x="6350" y="573405"/>
                  </a:lnTo>
                  <a:lnTo>
                    <a:pt x="0" y="573405"/>
                  </a:lnTo>
                  <a:moveTo>
                    <a:pt x="12700" y="573405"/>
                  </a:moveTo>
                  <a:lnTo>
                    <a:pt x="12700" y="4425950"/>
                  </a:lnTo>
                  <a:lnTo>
                    <a:pt x="6350" y="4425950"/>
                  </a:lnTo>
                  <a:lnTo>
                    <a:pt x="12700" y="4425950"/>
                  </a:lnTo>
                  <a:cubicBezTo>
                    <a:pt x="12700" y="4735576"/>
                    <a:pt x="264287" y="4986655"/>
                    <a:pt x="574548" y="4986655"/>
                  </a:cubicBezTo>
                  <a:lnTo>
                    <a:pt x="21176235" y="4986655"/>
                  </a:lnTo>
                  <a:cubicBezTo>
                    <a:pt x="21486496" y="4986655"/>
                    <a:pt x="21738082" y="4735576"/>
                    <a:pt x="21738082" y="4425950"/>
                  </a:cubicBezTo>
                  <a:lnTo>
                    <a:pt x="21738082" y="573405"/>
                  </a:lnTo>
                  <a:cubicBezTo>
                    <a:pt x="21738082" y="263779"/>
                    <a:pt x="21486496" y="12700"/>
                    <a:pt x="21176235" y="12700"/>
                  </a:cubicBezTo>
                  <a:lnTo>
                    <a:pt x="574548" y="12700"/>
                  </a:lnTo>
                  <a:lnTo>
                    <a:pt x="574548" y="6350"/>
                  </a:lnTo>
                  <a:lnTo>
                    <a:pt x="574548" y="12700"/>
                  </a:lnTo>
                  <a:cubicBezTo>
                    <a:pt x="264287" y="12700"/>
                    <a:pt x="12700" y="263779"/>
                    <a:pt x="12700" y="573405"/>
                  </a:cubicBezTo>
                  <a:close/>
                </a:path>
              </a:pathLst>
            </a:custGeom>
            <a:solidFill>
              <a:srgbClr val="7B8554"/>
            </a:solidFill>
          </p:spPr>
        </p:sp>
      </p:grpSp>
      <p:grpSp>
        <p:nvGrpSpPr>
          <p:cNvPr name="Group 10" id="10"/>
          <p:cNvGrpSpPr/>
          <p:nvPr/>
        </p:nvGrpSpPr>
        <p:grpSpPr>
          <a:xfrm rot="0">
            <a:off x="1001763" y="3396405"/>
            <a:ext cx="5428059" cy="2087318"/>
            <a:chOff x="0" y="0"/>
            <a:chExt cx="7237412" cy="2783091"/>
          </a:xfrm>
        </p:grpSpPr>
        <p:sp>
          <p:nvSpPr>
            <p:cNvPr name="Freeform 11" id="11"/>
            <p:cNvSpPr/>
            <p:nvPr/>
          </p:nvSpPr>
          <p:spPr>
            <a:xfrm flipH="false" flipV="false" rot="0">
              <a:off x="0" y="0"/>
              <a:ext cx="7237349" cy="2783078"/>
            </a:xfrm>
            <a:custGeom>
              <a:avLst/>
              <a:gdLst/>
              <a:ahLst/>
              <a:cxnLst/>
              <a:rect r="r" b="b" t="t" l="l"/>
              <a:pathLst>
                <a:path h="2783078" w="7237349">
                  <a:moveTo>
                    <a:pt x="0" y="567055"/>
                  </a:moveTo>
                  <a:cubicBezTo>
                    <a:pt x="0" y="253873"/>
                    <a:pt x="253873" y="0"/>
                    <a:pt x="567055" y="0"/>
                  </a:cubicBezTo>
                  <a:lnTo>
                    <a:pt x="6670294" y="0"/>
                  </a:lnTo>
                  <a:cubicBezTo>
                    <a:pt x="6983475" y="0"/>
                    <a:pt x="7237349" y="253873"/>
                    <a:pt x="7237349" y="567055"/>
                  </a:cubicBezTo>
                  <a:lnTo>
                    <a:pt x="7237349" y="2216023"/>
                  </a:lnTo>
                  <a:cubicBezTo>
                    <a:pt x="7237349" y="2529205"/>
                    <a:pt x="6983475" y="2783078"/>
                    <a:pt x="6670294" y="2783078"/>
                  </a:cubicBezTo>
                  <a:lnTo>
                    <a:pt x="567055" y="2783078"/>
                  </a:lnTo>
                  <a:cubicBezTo>
                    <a:pt x="253873" y="2783078"/>
                    <a:pt x="0" y="2529205"/>
                    <a:pt x="0" y="2216023"/>
                  </a:cubicBezTo>
                  <a:close/>
                </a:path>
              </a:pathLst>
            </a:custGeom>
            <a:solidFill>
              <a:srgbClr val="626C3B"/>
            </a:solidFill>
          </p:spPr>
        </p:sp>
      </p:grpSp>
      <p:sp>
        <p:nvSpPr>
          <p:cNvPr name="TextBox 12" id="12"/>
          <p:cNvSpPr txBox="true"/>
          <p:nvPr/>
        </p:nvSpPr>
        <p:spPr>
          <a:xfrm rot="0">
            <a:off x="1285284" y="3641827"/>
            <a:ext cx="3544043" cy="481012"/>
          </a:xfrm>
          <a:prstGeom prst="rect">
            <a:avLst/>
          </a:prstGeom>
        </p:spPr>
        <p:txBody>
          <a:bodyPr anchor="t" rtlCol="false" tIns="0" lIns="0" bIns="0" rIns="0">
            <a:spAutoFit/>
          </a:bodyPr>
          <a:lstStyle/>
          <a:p>
            <a:pPr algn="l">
              <a:lnSpc>
                <a:spcPts val="3437"/>
              </a:lnSpc>
            </a:pPr>
            <a:r>
              <a:rPr lang="en-US" sz="2750" b="true">
                <a:solidFill>
                  <a:srgbClr val="FFFFFF"/>
                </a:solidFill>
                <a:latin typeface="Arimo Bold"/>
                <a:ea typeface="Arimo Bold"/>
                <a:cs typeface="Arimo Bold"/>
                <a:sym typeface="Arimo Bold"/>
              </a:rPr>
              <a:t>Perle Nutricrunch</a:t>
            </a:r>
          </a:p>
        </p:txBody>
      </p:sp>
      <p:sp>
        <p:nvSpPr>
          <p:cNvPr name="TextBox 13" id="13"/>
          <p:cNvSpPr txBox="true"/>
          <p:nvPr/>
        </p:nvSpPr>
        <p:spPr>
          <a:xfrm rot="0">
            <a:off x="1285284" y="4188171"/>
            <a:ext cx="4861027" cy="1012031"/>
          </a:xfrm>
          <a:prstGeom prst="rect">
            <a:avLst/>
          </a:prstGeom>
        </p:spPr>
        <p:txBody>
          <a:bodyPr anchor="t" rtlCol="false" tIns="0" lIns="0" bIns="0" rIns="0">
            <a:spAutoFit/>
          </a:bodyPr>
          <a:lstStyle/>
          <a:p>
            <a:pPr algn="l">
              <a:lnSpc>
                <a:spcPts val="3562"/>
              </a:lnSpc>
            </a:pPr>
            <a:r>
              <a:rPr lang="en-US" sz="2187">
                <a:solidFill>
                  <a:srgbClr val="FFFFFF"/>
                </a:solidFill>
                <a:latin typeface="Arimo"/>
                <a:ea typeface="Arimo"/>
                <a:cs typeface="Arimo"/>
                <a:sym typeface="Arimo"/>
              </a:rPr>
              <a:t>Leading product with consistent sales across all regions</a:t>
            </a:r>
          </a:p>
        </p:txBody>
      </p:sp>
      <p:grpSp>
        <p:nvGrpSpPr>
          <p:cNvPr name="Group 14" id="14"/>
          <p:cNvGrpSpPr/>
          <p:nvPr/>
        </p:nvGrpSpPr>
        <p:grpSpPr>
          <a:xfrm rot="0">
            <a:off x="6429823" y="3396405"/>
            <a:ext cx="5428212" cy="2087318"/>
            <a:chOff x="0" y="0"/>
            <a:chExt cx="7237616" cy="2783091"/>
          </a:xfrm>
        </p:grpSpPr>
        <p:sp>
          <p:nvSpPr>
            <p:cNvPr name="Freeform 15" id="15"/>
            <p:cNvSpPr/>
            <p:nvPr/>
          </p:nvSpPr>
          <p:spPr>
            <a:xfrm flipH="false" flipV="false" rot="0">
              <a:off x="0" y="0"/>
              <a:ext cx="7237603" cy="2783078"/>
            </a:xfrm>
            <a:custGeom>
              <a:avLst/>
              <a:gdLst/>
              <a:ahLst/>
              <a:cxnLst/>
              <a:rect r="r" b="b" t="t" l="l"/>
              <a:pathLst>
                <a:path h="2783078" w="7237603">
                  <a:moveTo>
                    <a:pt x="0" y="0"/>
                  </a:moveTo>
                  <a:lnTo>
                    <a:pt x="7237603" y="0"/>
                  </a:lnTo>
                  <a:lnTo>
                    <a:pt x="7237603" y="2783078"/>
                  </a:lnTo>
                  <a:lnTo>
                    <a:pt x="0" y="2783078"/>
                  </a:lnTo>
                  <a:close/>
                </a:path>
              </a:pathLst>
            </a:custGeom>
            <a:solidFill>
              <a:srgbClr val="626C3B"/>
            </a:solidFill>
          </p:spPr>
        </p:sp>
      </p:grpSp>
      <p:grpSp>
        <p:nvGrpSpPr>
          <p:cNvPr name="Group 16" id="16"/>
          <p:cNvGrpSpPr/>
          <p:nvPr/>
        </p:nvGrpSpPr>
        <p:grpSpPr>
          <a:xfrm rot="0">
            <a:off x="6429823" y="3396405"/>
            <a:ext cx="38100" cy="2087318"/>
            <a:chOff x="0" y="0"/>
            <a:chExt cx="50800" cy="2783091"/>
          </a:xfrm>
        </p:grpSpPr>
        <p:sp>
          <p:nvSpPr>
            <p:cNvPr name="Freeform 17" id="17"/>
            <p:cNvSpPr/>
            <p:nvPr/>
          </p:nvSpPr>
          <p:spPr>
            <a:xfrm flipH="false" flipV="false" rot="0">
              <a:off x="0" y="0"/>
              <a:ext cx="50800" cy="2783078"/>
            </a:xfrm>
            <a:custGeom>
              <a:avLst/>
              <a:gdLst/>
              <a:ahLst/>
              <a:cxnLst/>
              <a:rect r="r" b="b" t="t" l="l"/>
              <a:pathLst>
                <a:path h="2783078" w="50800">
                  <a:moveTo>
                    <a:pt x="0" y="25400"/>
                  </a:moveTo>
                  <a:cubicBezTo>
                    <a:pt x="0" y="11430"/>
                    <a:pt x="11430" y="0"/>
                    <a:pt x="25400" y="0"/>
                  </a:cubicBezTo>
                  <a:cubicBezTo>
                    <a:pt x="39370" y="0"/>
                    <a:pt x="50800" y="11430"/>
                    <a:pt x="50800" y="25400"/>
                  </a:cubicBezTo>
                  <a:lnTo>
                    <a:pt x="50800" y="2757678"/>
                  </a:lnTo>
                  <a:cubicBezTo>
                    <a:pt x="50800" y="2771648"/>
                    <a:pt x="39370" y="2783078"/>
                    <a:pt x="25400" y="2783078"/>
                  </a:cubicBezTo>
                  <a:cubicBezTo>
                    <a:pt x="11430" y="2783078"/>
                    <a:pt x="0" y="2771648"/>
                    <a:pt x="0" y="2757678"/>
                  </a:cubicBezTo>
                  <a:close/>
                </a:path>
              </a:pathLst>
            </a:custGeom>
            <a:solidFill>
              <a:srgbClr val="9C9247"/>
            </a:solidFill>
          </p:spPr>
        </p:sp>
      </p:grpSp>
      <p:sp>
        <p:nvSpPr>
          <p:cNvPr name="TextBox 18" id="18"/>
          <p:cNvSpPr txBox="true"/>
          <p:nvPr/>
        </p:nvSpPr>
        <p:spPr>
          <a:xfrm rot="0">
            <a:off x="6713334" y="3641827"/>
            <a:ext cx="3544043" cy="481012"/>
          </a:xfrm>
          <a:prstGeom prst="rect">
            <a:avLst/>
          </a:prstGeom>
        </p:spPr>
        <p:txBody>
          <a:bodyPr anchor="t" rtlCol="false" tIns="0" lIns="0" bIns="0" rIns="0">
            <a:spAutoFit/>
          </a:bodyPr>
          <a:lstStyle/>
          <a:p>
            <a:pPr algn="l">
              <a:lnSpc>
                <a:spcPts val="3437"/>
              </a:lnSpc>
            </a:pPr>
            <a:r>
              <a:rPr lang="en-US" sz="2750" b="true">
                <a:solidFill>
                  <a:srgbClr val="FFFFFF"/>
                </a:solidFill>
                <a:latin typeface="Arimo Bold"/>
                <a:ea typeface="Arimo Bold"/>
                <a:cs typeface="Arimo Bold"/>
                <a:sym typeface="Arimo Bold"/>
              </a:rPr>
              <a:t>Digestive Cookies</a:t>
            </a:r>
          </a:p>
        </p:txBody>
      </p:sp>
      <p:sp>
        <p:nvSpPr>
          <p:cNvPr name="TextBox 19" id="19"/>
          <p:cNvSpPr txBox="true"/>
          <p:nvPr/>
        </p:nvSpPr>
        <p:spPr>
          <a:xfrm rot="0">
            <a:off x="6713334" y="4188171"/>
            <a:ext cx="4861169" cy="1012031"/>
          </a:xfrm>
          <a:prstGeom prst="rect">
            <a:avLst/>
          </a:prstGeom>
        </p:spPr>
        <p:txBody>
          <a:bodyPr anchor="t" rtlCol="false" tIns="0" lIns="0" bIns="0" rIns="0">
            <a:spAutoFit/>
          </a:bodyPr>
          <a:lstStyle/>
          <a:p>
            <a:pPr algn="l">
              <a:lnSpc>
                <a:spcPts val="3562"/>
              </a:lnSpc>
            </a:pPr>
            <a:r>
              <a:rPr lang="en-US" sz="2187">
                <a:solidFill>
                  <a:srgbClr val="FFFFFF"/>
                </a:solidFill>
                <a:latin typeface="Arimo"/>
                <a:ea typeface="Arimo"/>
                <a:cs typeface="Arimo"/>
                <a:sym typeface="Arimo"/>
              </a:rPr>
              <a:t>Strong repeat purchase rate and customer loyalty</a:t>
            </a:r>
          </a:p>
        </p:txBody>
      </p:sp>
      <p:grpSp>
        <p:nvGrpSpPr>
          <p:cNvPr name="Group 20" id="20"/>
          <p:cNvGrpSpPr/>
          <p:nvPr/>
        </p:nvGrpSpPr>
        <p:grpSpPr>
          <a:xfrm rot="0">
            <a:off x="11858034" y="3396405"/>
            <a:ext cx="5428212" cy="2087318"/>
            <a:chOff x="0" y="0"/>
            <a:chExt cx="7237616" cy="2783091"/>
          </a:xfrm>
        </p:grpSpPr>
        <p:sp>
          <p:nvSpPr>
            <p:cNvPr name="Freeform 21" id="21"/>
            <p:cNvSpPr/>
            <p:nvPr/>
          </p:nvSpPr>
          <p:spPr>
            <a:xfrm flipH="false" flipV="false" rot="0">
              <a:off x="0" y="0"/>
              <a:ext cx="7237603" cy="2783078"/>
            </a:xfrm>
            <a:custGeom>
              <a:avLst/>
              <a:gdLst/>
              <a:ahLst/>
              <a:cxnLst/>
              <a:rect r="r" b="b" t="t" l="l"/>
              <a:pathLst>
                <a:path h="2783078" w="7237603">
                  <a:moveTo>
                    <a:pt x="0" y="0"/>
                  </a:moveTo>
                  <a:lnTo>
                    <a:pt x="7237603" y="0"/>
                  </a:lnTo>
                  <a:lnTo>
                    <a:pt x="7237603" y="2783078"/>
                  </a:lnTo>
                  <a:lnTo>
                    <a:pt x="0" y="2783078"/>
                  </a:lnTo>
                  <a:close/>
                </a:path>
              </a:pathLst>
            </a:custGeom>
            <a:solidFill>
              <a:srgbClr val="626C3B"/>
            </a:solidFill>
          </p:spPr>
        </p:sp>
      </p:grpSp>
      <p:grpSp>
        <p:nvGrpSpPr>
          <p:cNvPr name="Group 22" id="22"/>
          <p:cNvGrpSpPr/>
          <p:nvPr/>
        </p:nvGrpSpPr>
        <p:grpSpPr>
          <a:xfrm rot="0">
            <a:off x="11858034" y="3396405"/>
            <a:ext cx="38100" cy="2087318"/>
            <a:chOff x="0" y="0"/>
            <a:chExt cx="50800" cy="2783091"/>
          </a:xfrm>
        </p:grpSpPr>
        <p:sp>
          <p:nvSpPr>
            <p:cNvPr name="Freeform 23" id="23"/>
            <p:cNvSpPr/>
            <p:nvPr/>
          </p:nvSpPr>
          <p:spPr>
            <a:xfrm flipH="false" flipV="false" rot="0">
              <a:off x="0" y="0"/>
              <a:ext cx="50800" cy="2783078"/>
            </a:xfrm>
            <a:custGeom>
              <a:avLst/>
              <a:gdLst/>
              <a:ahLst/>
              <a:cxnLst/>
              <a:rect r="r" b="b" t="t" l="l"/>
              <a:pathLst>
                <a:path h="2783078" w="50800">
                  <a:moveTo>
                    <a:pt x="0" y="25400"/>
                  </a:moveTo>
                  <a:cubicBezTo>
                    <a:pt x="0" y="11430"/>
                    <a:pt x="11430" y="0"/>
                    <a:pt x="25400" y="0"/>
                  </a:cubicBezTo>
                  <a:cubicBezTo>
                    <a:pt x="39370" y="0"/>
                    <a:pt x="50800" y="11430"/>
                    <a:pt x="50800" y="25400"/>
                  </a:cubicBezTo>
                  <a:lnTo>
                    <a:pt x="50800" y="2757678"/>
                  </a:lnTo>
                  <a:cubicBezTo>
                    <a:pt x="50800" y="2771648"/>
                    <a:pt x="39370" y="2783078"/>
                    <a:pt x="25400" y="2783078"/>
                  </a:cubicBezTo>
                  <a:cubicBezTo>
                    <a:pt x="11430" y="2783078"/>
                    <a:pt x="0" y="2771648"/>
                    <a:pt x="0" y="2757678"/>
                  </a:cubicBezTo>
                  <a:close/>
                </a:path>
              </a:pathLst>
            </a:custGeom>
            <a:solidFill>
              <a:srgbClr val="CE9521"/>
            </a:solidFill>
          </p:spPr>
        </p:sp>
      </p:grpSp>
      <p:sp>
        <p:nvSpPr>
          <p:cNvPr name="TextBox 24" id="24"/>
          <p:cNvSpPr txBox="true"/>
          <p:nvPr/>
        </p:nvSpPr>
        <p:spPr>
          <a:xfrm rot="0">
            <a:off x="12141546" y="3641827"/>
            <a:ext cx="3544043" cy="481012"/>
          </a:xfrm>
          <a:prstGeom prst="rect">
            <a:avLst/>
          </a:prstGeom>
        </p:spPr>
        <p:txBody>
          <a:bodyPr anchor="t" rtlCol="false" tIns="0" lIns="0" bIns="0" rIns="0">
            <a:spAutoFit/>
          </a:bodyPr>
          <a:lstStyle/>
          <a:p>
            <a:pPr algn="l">
              <a:lnSpc>
                <a:spcPts val="3437"/>
              </a:lnSpc>
            </a:pPr>
            <a:r>
              <a:rPr lang="en-US" sz="2750" b="true">
                <a:solidFill>
                  <a:srgbClr val="FFFFFF"/>
                </a:solidFill>
                <a:latin typeface="Arimo Bold"/>
                <a:ea typeface="Arimo Bold"/>
                <a:cs typeface="Arimo Bold"/>
                <a:sym typeface="Arimo Bold"/>
              </a:rPr>
              <a:t>Product #3</a:t>
            </a:r>
          </a:p>
        </p:txBody>
      </p:sp>
      <p:sp>
        <p:nvSpPr>
          <p:cNvPr name="TextBox 25" id="25"/>
          <p:cNvSpPr txBox="true"/>
          <p:nvPr/>
        </p:nvSpPr>
        <p:spPr>
          <a:xfrm rot="0">
            <a:off x="12141546" y="4188171"/>
            <a:ext cx="4861169" cy="1012031"/>
          </a:xfrm>
          <a:prstGeom prst="rect">
            <a:avLst/>
          </a:prstGeom>
        </p:spPr>
        <p:txBody>
          <a:bodyPr anchor="t" rtlCol="false" tIns="0" lIns="0" bIns="0" rIns="0">
            <a:spAutoFit/>
          </a:bodyPr>
          <a:lstStyle/>
          <a:p>
            <a:pPr algn="l">
              <a:lnSpc>
                <a:spcPts val="3562"/>
              </a:lnSpc>
            </a:pPr>
            <a:r>
              <a:rPr lang="en-US" sz="2187">
                <a:solidFill>
                  <a:srgbClr val="FFFFFF"/>
                </a:solidFill>
                <a:latin typeface="Arimo"/>
                <a:ea typeface="Arimo"/>
                <a:cs typeface="Arimo"/>
                <a:sym typeface="Arimo"/>
              </a:rPr>
              <a:t>Emerging category with high growth potential</a:t>
            </a:r>
          </a:p>
        </p:txBody>
      </p:sp>
      <p:grpSp>
        <p:nvGrpSpPr>
          <p:cNvPr name="Group 26" id="26"/>
          <p:cNvGrpSpPr/>
          <p:nvPr/>
        </p:nvGrpSpPr>
        <p:grpSpPr>
          <a:xfrm rot="0">
            <a:off x="1001763" y="5483723"/>
            <a:ext cx="8142237" cy="1633690"/>
            <a:chOff x="0" y="0"/>
            <a:chExt cx="10856316" cy="2178253"/>
          </a:xfrm>
        </p:grpSpPr>
        <p:sp>
          <p:nvSpPr>
            <p:cNvPr name="Freeform 27" id="27"/>
            <p:cNvSpPr/>
            <p:nvPr/>
          </p:nvSpPr>
          <p:spPr>
            <a:xfrm flipH="false" flipV="false" rot="0">
              <a:off x="0" y="0"/>
              <a:ext cx="10856341" cy="2178304"/>
            </a:xfrm>
            <a:custGeom>
              <a:avLst/>
              <a:gdLst/>
              <a:ahLst/>
              <a:cxnLst/>
              <a:rect r="r" b="b" t="t" l="l"/>
              <a:pathLst>
                <a:path h="2178304" w="10856341">
                  <a:moveTo>
                    <a:pt x="0" y="0"/>
                  </a:moveTo>
                  <a:lnTo>
                    <a:pt x="10856341" y="0"/>
                  </a:lnTo>
                  <a:lnTo>
                    <a:pt x="10856341" y="2178304"/>
                  </a:lnTo>
                  <a:lnTo>
                    <a:pt x="0" y="2178304"/>
                  </a:lnTo>
                  <a:close/>
                </a:path>
              </a:pathLst>
            </a:custGeom>
            <a:solidFill>
              <a:srgbClr val="626C3B"/>
            </a:solidFill>
          </p:spPr>
        </p:sp>
      </p:grpSp>
      <p:grpSp>
        <p:nvGrpSpPr>
          <p:cNvPr name="Group 28" id="28"/>
          <p:cNvGrpSpPr/>
          <p:nvPr/>
        </p:nvGrpSpPr>
        <p:grpSpPr>
          <a:xfrm rot="0">
            <a:off x="1001763" y="5483723"/>
            <a:ext cx="8142237" cy="38100"/>
            <a:chOff x="0" y="0"/>
            <a:chExt cx="10856316" cy="50800"/>
          </a:xfrm>
        </p:grpSpPr>
        <p:sp>
          <p:nvSpPr>
            <p:cNvPr name="Freeform 29" id="29"/>
            <p:cNvSpPr/>
            <p:nvPr/>
          </p:nvSpPr>
          <p:spPr>
            <a:xfrm flipH="false" flipV="false" rot="0">
              <a:off x="0" y="0"/>
              <a:ext cx="10856341" cy="50800"/>
            </a:xfrm>
            <a:custGeom>
              <a:avLst/>
              <a:gdLst/>
              <a:ahLst/>
              <a:cxnLst/>
              <a:rect r="r" b="b" t="t" l="l"/>
              <a:pathLst>
                <a:path h="50800" w="10856341">
                  <a:moveTo>
                    <a:pt x="0" y="25400"/>
                  </a:moveTo>
                  <a:cubicBezTo>
                    <a:pt x="0" y="11430"/>
                    <a:pt x="11430" y="0"/>
                    <a:pt x="25400" y="0"/>
                  </a:cubicBezTo>
                  <a:lnTo>
                    <a:pt x="10830941" y="0"/>
                  </a:lnTo>
                  <a:cubicBezTo>
                    <a:pt x="10844911" y="0"/>
                    <a:pt x="10856341" y="11430"/>
                    <a:pt x="10856341" y="25400"/>
                  </a:cubicBezTo>
                  <a:cubicBezTo>
                    <a:pt x="10856341" y="39370"/>
                    <a:pt x="10844911" y="50800"/>
                    <a:pt x="10830941" y="50800"/>
                  </a:cubicBezTo>
                  <a:lnTo>
                    <a:pt x="25400" y="50800"/>
                  </a:lnTo>
                  <a:cubicBezTo>
                    <a:pt x="11430" y="50800"/>
                    <a:pt x="0" y="39370"/>
                    <a:pt x="0" y="25400"/>
                  </a:cubicBezTo>
                  <a:close/>
                </a:path>
              </a:pathLst>
            </a:custGeom>
            <a:solidFill>
              <a:srgbClr val="B27733"/>
            </a:solidFill>
          </p:spPr>
        </p:sp>
      </p:grpSp>
      <p:sp>
        <p:nvSpPr>
          <p:cNvPr name="TextBox 30" id="30"/>
          <p:cNvSpPr txBox="true"/>
          <p:nvPr/>
        </p:nvSpPr>
        <p:spPr>
          <a:xfrm rot="0">
            <a:off x="1285284" y="5729135"/>
            <a:ext cx="3544043" cy="481012"/>
          </a:xfrm>
          <a:prstGeom prst="rect">
            <a:avLst/>
          </a:prstGeom>
        </p:spPr>
        <p:txBody>
          <a:bodyPr anchor="t" rtlCol="false" tIns="0" lIns="0" bIns="0" rIns="0">
            <a:spAutoFit/>
          </a:bodyPr>
          <a:lstStyle/>
          <a:p>
            <a:pPr algn="l">
              <a:lnSpc>
                <a:spcPts val="3437"/>
              </a:lnSpc>
            </a:pPr>
            <a:r>
              <a:rPr lang="en-US" sz="2750" b="true">
                <a:solidFill>
                  <a:srgbClr val="FFFFFF"/>
                </a:solidFill>
                <a:latin typeface="Arimo Bold"/>
                <a:ea typeface="Arimo Bold"/>
                <a:cs typeface="Arimo Bold"/>
                <a:sym typeface="Arimo Bold"/>
              </a:rPr>
              <a:t>Product #4</a:t>
            </a:r>
          </a:p>
        </p:txBody>
      </p:sp>
      <p:sp>
        <p:nvSpPr>
          <p:cNvPr name="TextBox 31" id="31"/>
          <p:cNvSpPr txBox="true"/>
          <p:nvPr/>
        </p:nvSpPr>
        <p:spPr>
          <a:xfrm rot="0">
            <a:off x="1285284" y="6275489"/>
            <a:ext cx="7575204" cy="558403"/>
          </a:xfrm>
          <a:prstGeom prst="rect">
            <a:avLst/>
          </a:prstGeom>
        </p:spPr>
        <p:txBody>
          <a:bodyPr anchor="t" rtlCol="false" tIns="0" lIns="0" bIns="0" rIns="0">
            <a:spAutoFit/>
          </a:bodyPr>
          <a:lstStyle/>
          <a:p>
            <a:pPr algn="l">
              <a:lnSpc>
                <a:spcPts val="3562"/>
              </a:lnSpc>
            </a:pPr>
            <a:r>
              <a:rPr lang="en-US" sz="2187">
                <a:solidFill>
                  <a:srgbClr val="FFFFFF"/>
                </a:solidFill>
                <a:latin typeface="Arimo"/>
                <a:ea typeface="Arimo"/>
                <a:cs typeface="Arimo"/>
                <a:sym typeface="Arimo"/>
              </a:rPr>
              <a:t>Seasonal favourite with predictable demand patterns</a:t>
            </a:r>
          </a:p>
        </p:txBody>
      </p:sp>
      <p:grpSp>
        <p:nvGrpSpPr>
          <p:cNvPr name="Group 32" id="32"/>
          <p:cNvGrpSpPr/>
          <p:nvPr/>
        </p:nvGrpSpPr>
        <p:grpSpPr>
          <a:xfrm rot="0">
            <a:off x="9144000" y="5483723"/>
            <a:ext cx="8142237" cy="1633690"/>
            <a:chOff x="0" y="0"/>
            <a:chExt cx="10856316" cy="2178253"/>
          </a:xfrm>
        </p:grpSpPr>
        <p:sp>
          <p:nvSpPr>
            <p:cNvPr name="Freeform 33" id="33"/>
            <p:cNvSpPr/>
            <p:nvPr/>
          </p:nvSpPr>
          <p:spPr>
            <a:xfrm flipH="false" flipV="false" rot="0">
              <a:off x="0" y="0"/>
              <a:ext cx="10856341" cy="2178304"/>
            </a:xfrm>
            <a:custGeom>
              <a:avLst/>
              <a:gdLst/>
              <a:ahLst/>
              <a:cxnLst/>
              <a:rect r="r" b="b" t="t" l="l"/>
              <a:pathLst>
                <a:path h="2178304" w="10856341">
                  <a:moveTo>
                    <a:pt x="0" y="0"/>
                  </a:moveTo>
                  <a:lnTo>
                    <a:pt x="10856341" y="0"/>
                  </a:lnTo>
                  <a:lnTo>
                    <a:pt x="10856341" y="2178304"/>
                  </a:lnTo>
                  <a:lnTo>
                    <a:pt x="0" y="2178304"/>
                  </a:lnTo>
                  <a:close/>
                </a:path>
              </a:pathLst>
            </a:custGeom>
            <a:solidFill>
              <a:srgbClr val="626C3B"/>
            </a:solidFill>
          </p:spPr>
        </p:sp>
      </p:grpSp>
      <p:grpSp>
        <p:nvGrpSpPr>
          <p:cNvPr name="Group 34" id="34"/>
          <p:cNvGrpSpPr/>
          <p:nvPr/>
        </p:nvGrpSpPr>
        <p:grpSpPr>
          <a:xfrm rot="0">
            <a:off x="9144000" y="5483723"/>
            <a:ext cx="38100" cy="1633690"/>
            <a:chOff x="0" y="0"/>
            <a:chExt cx="50800" cy="2178253"/>
          </a:xfrm>
        </p:grpSpPr>
        <p:sp>
          <p:nvSpPr>
            <p:cNvPr name="Freeform 35" id="35"/>
            <p:cNvSpPr/>
            <p:nvPr/>
          </p:nvSpPr>
          <p:spPr>
            <a:xfrm flipH="false" flipV="false" rot="0">
              <a:off x="0" y="0"/>
              <a:ext cx="50800" cy="2178304"/>
            </a:xfrm>
            <a:custGeom>
              <a:avLst/>
              <a:gdLst/>
              <a:ahLst/>
              <a:cxnLst/>
              <a:rect r="r" b="b" t="t" l="l"/>
              <a:pathLst>
                <a:path h="2178304" w="50800">
                  <a:moveTo>
                    <a:pt x="0" y="25400"/>
                  </a:moveTo>
                  <a:cubicBezTo>
                    <a:pt x="0" y="11430"/>
                    <a:pt x="11430" y="0"/>
                    <a:pt x="25400" y="0"/>
                  </a:cubicBezTo>
                  <a:cubicBezTo>
                    <a:pt x="39370" y="0"/>
                    <a:pt x="50800" y="11430"/>
                    <a:pt x="50800" y="25400"/>
                  </a:cubicBezTo>
                  <a:lnTo>
                    <a:pt x="50800" y="2152904"/>
                  </a:lnTo>
                  <a:cubicBezTo>
                    <a:pt x="50800" y="2166874"/>
                    <a:pt x="39370" y="2178304"/>
                    <a:pt x="25400" y="2178304"/>
                  </a:cubicBezTo>
                  <a:cubicBezTo>
                    <a:pt x="11430" y="2178304"/>
                    <a:pt x="0" y="2166874"/>
                    <a:pt x="0" y="2152904"/>
                  </a:cubicBezTo>
                  <a:close/>
                </a:path>
              </a:pathLst>
            </a:custGeom>
            <a:solidFill>
              <a:srgbClr val="7B8554"/>
            </a:solidFill>
          </p:spPr>
        </p:sp>
      </p:grpSp>
      <p:grpSp>
        <p:nvGrpSpPr>
          <p:cNvPr name="Group 36" id="36"/>
          <p:cNvGrpSpPr/>
          <p:nvPr/>
        </p:nvGrpSpPr>
        <p:grpSpPr>
          <a:xfrm rot="0">
            <a:off x="9144000" y="5483723"/>
            <a:ext cx="8142237" cy="38100"/>
            <a:chOff x="0" y="0"/>
            <a:chExt cx="10856316" cy="50800"/>
          </a:xfrm>
        </p:grpSpPr>
        <p:sp>
          <p:nvSpPr>
            <p:cNvPr name="Freeform 37" id="37"/>
            <p:cNvSpPr/>
            <p:nvPr/>
          </p:nvSpPr>
          <p:spPr>
            <a:xfrm flipH="false" flipV="false" rot="0">
              <a:off x="0" y="0"/>
              <a:ext cx="10856341" cy="50800"/>
            </a:xfrm>
            <a:custGeom>
              <a:avLst/>
              <a:gdLst/>
              <a:ahLst/>
              <a:cxnLst/>
              <a:rect r="r" b="b" t="t" l="l"/>
              <a:pathLst>
                <a:path h="50800" w="10856341">
                  <a:moveTo>
                    <a:pt x="0" y="25400"/>
                  </a:moveTo>
                  <a:cubicBezTo>
                    <a:pt x="0" y="11430"/>
                    <a:pt x="11430" y="0"/>
                    <a:pt x="25400" y="0"/>
                  </a:cubicBezTo>
                  <a:lnTo>
                    <a:pt x="10830941" y="0"/>
                  </a:lnTo>
                  <a:cubicBezTo>
                    <a:pt x="10844911" y="0"/>
                    <a:pt x="10856341" y="11430"/>
                    <a:pt x="10856341" y="25400"/>
                  </a:cubicBezTo>
                  <a:cubicBezTo>
                    <a:pt x="10856341" y="39370"/>
                    <a:pt x="10844911" y="50800"/>
                    <a:pt x="10830941" y="50800"/>
                  </a:cubicBezTo>
                  <a:lnTo>
                    <a:pt x="25400" y="50800"/>
                  </a:lnTo>
                  <a:cubicBezTo>
                    <a:pt x="11430" y="50800"/>
                    <a:pt x="0" y="39370"/>
                    <a:pt x="0" y="25400"/>
                  </a:cubicBezTo>
                  <a:close/>
                </a:path>
              </a:pathLst>
            </a:custGeom>
            <a:solidFill>
              <a:srgbClr val="7B8554"/>
            </a:solidFill>
          </p:spPr>
        </p:sp>
      </p:grpSp>
      <p:sp>
        <p:nvSpPr>
          <p:cNvPr name="TextBox 38" id="38"/>
          <p:cNvSpPr txBox="true"/>
          <p:nvPr/>
        </p:nvSpPr>
        <p:spPr>
          <a:xfrm rot="0">
            <a:off x="9427521" y="5729135"/>
            <a:ext cx="3544043" cy="481012"/>
          </a:xfrm>
          <a:prstGeom prst="rect">
            <a:avLst/>
          </a:prstGeom>
        </p:spPr>
        <p:txBody>
          <a:bodyPr anchor="t" rtlCol="false" tIns="0" lIns="0" bIns="0" rIns="0">
            <a:spAutoFit/>
          </a:bodyPr>
          <a:lstStyle/>
          <a:p>
            <a:pPr algn="l">
              <a:lnSpc>
                <a:spcPts val="3437"/>
              </a:lnSpc>
            </a:pPr>
            <a:r>
              <a:rPr lang="en-US" sz="2750" b="true">
                <a:solidFill>
                  <a:srgbClr val="FFFFFF"/>
                </a:solidFill>
                <a:latin typeface="Arimo Bold"/>
                <a:ea typeface="Arimo Bold"/>
                <a:cs typeface="Arimo Bold"/>
                <a:sym typeface="Arimo Bold"/>
              </a:rPr>
              <a:t>Product #5</a:t>
            </a:r>
          </a:p>
        </p:txBody>
      </p:sp>
      <p:sp>
        <p:nvSpPr>
          <p:cNvPr name="TextBox 39" id="39"/>
          <p:cNvSpPr txBox="true"/>
          <p:nvPr/>
        </p:nvSpPr>
        <p:spPr>
          <a:xfrm rot="0">
            <a:off x="9427521" y="6275489"/>
            <a:ext cx="7575204" cy="558403"/>
          </a:xfrm>
          <a:prstGeom prst="rect">
            <a:avLst/>
          </a:prstGeom>
        </p:spPr>
        <p:txBody>
          <a:bodyPr anchor="t" rtlCol="false" tIns="0" lIns="0" bIns="0" rIns="0">
            <a:spAutoFit/>
          </a:bodyPr>
          <a:lstStyle/>
          <a:p>
            <a:pPr algn="l">
              <a:lnSpc>
                <a:spcPts val="3562"/>
              </a:lnSpc>
            </a:pPr>
            <a:r>
              <a:rPr lang="en-US" sz="2187">
                <a:solidFill>
                  <a:srgbClr val="FFFFFF"/>
                </a:solidFill>
                <a:latin typeface="Arimo"/>
                <a:ea typeface="Arimo"/>
                <a:cs typeface="Arimo"/>
                <a:sym typeface="Arimo"/>
              </a:rPr>
              <a:t>Premium offering with excellent margins</a:t>
            </a:r>
          </a:p>
        </p:txBody>
      </p:sp>
      <p:sp>
        <p:nvSpPr>
          <p:cNvPr name="TextBox 40" id="40"/>
          <p:cNvSpPr txBox="true"/>
          <p:nvPr/>
        </p:nvSpPr>
        <p:spPr>
          <a:xfrm rot="0">
            <a:off x="992238" y="7341098"/>
            <a:ext cx="16303523" cy="1012031"/>
          </a:xfrm>
          <a:prstGeom prst="rect">
            <a:avLst/>
          </a:prstGeom>
        </p:spPr>
        <p:txBody>
          <a:bodyPr anchor="t" rtlCol="false" tIns="0" lIns="0" bIns="0" rIns="0">
            <a:spAutoFit/>
          </a:bodyPr>
          <a:lstStyle/>
          <a:p>
            <a:pPr algn="l">
              <a:lnSpc>
                <a:spcPts val="3562"/>
              </a:lnSpc>
            </a:pPr>
            <a:r>
              <a:rPr lang="en-US" sz="2187" b="true">
                <a:solidFill>
                  <a:srgbClr val="403011"/>
                </a:solidFill>
                <a:latin typeface="Arimo Bold"/>
                <a:ea typeface="Arimo Bold"/>
                <a:cs typeface="Arimo Bold"/>
                <a:sym typeface="Arimo Bold"/>
              </a:rPr>
              <a:t>Strategic Recommendation:</a:t>
            </a:r>
            <a:r>
              <a:rPr lang="en-US" sz="2187">
                <a:solidFill>
                  <a:srgbClr val="403011"/>
                </a:solidFill>
                <a:latin typeface="Arimo"/>
                <a:ea typeface="Arimo"/>
                <a:cs typeface="Arimo"/>
                <a:sym typeface="Arimo"/>
              </a:rPr>
              <a:t> Expand product variants within these successful categories and leverage their brand equity to introduce complementary items.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992238" y="1058618"/>
            <a:ext cx="10305602" cy="943127"/>
          </a:xfrm>
          <a:prstGeom prst="rect">
            <a:avLst/>
          </a:prstGeom>
        </p:spPr>
        <p:txBody>
          <a:bodyPr anchor="t" rtlCol="false" tIns="0" lIns="0" bIns="0" rIns="0">
            <a:spAutoFit/>
          </a:bodyPr>
          <a:lstStyle/>
          <a:p>
            <a:pPr algn="l">
              <a:lnSpc>
                <a:spcPts val="6937"/>
              </a:lnSpc>
            </a:pPr>
            <a:r>
              <a:rPr lang="en-US" sz="5562" b="true">
                <a:solidFill>
                  <a:srgbClr val="403011"/>
                </a:solidFill>
                <a:latin typeface="Arimo Bold"/>
                <a:ea typeface="Arimo Bold"/>
                <a:cs typeface="Arimo Bold"/>
                <a:sym typeface="Arimo Bold"/>
              </a:rPr>
              <a:t>Transaction &amp; Payment Trends</a:t>
            </a:r>
          </a:p>
        </p:txBody>
      </p:sp>
      <p:sp>
        <p:nvSpPr>
          <p:cNvPr name="TextBox 7" id="7"/>
          <p:cNvSpPr txBox="true"/>
          <p:nvPr/>
        </p:nvSpPr>
        <p:spPr>
          <a:xfrm rot="0">
            <a:off x="992238" y="2672353"/>
            <a:ext cx="5623770" cy="569709"/>
          </a:xfrm>
          <a:prstGeom prst="rect">
            <a:avLst/>
          </a:prstGeom>
        </p:spPr>
        <p:txBody>
          <a:bodyPr anchor="t" rtlCol="false" tIns="0" lIns="0" bIns="0" rIns="0">
            <a:spAutoFit/>
          </a:bodyPr>
          <a:lstStyle/>
          <a:p>
            <a:pPr algn="l">
              <a:lnSpc>
                <a:spcPts val="4125"/>
              </a:lnSpc>
            </a:pPr>
            <a:r>
              <a:rPr lang="en-US" sz="3312" b="true">
                <a:solidFill>
                  <a:srgbClr val="403011"/>
                </a:solidFill>
                <a:latin typeface="Arimo Bold"/>
                <a:ea typeface="Arimo Bold"/>
                <a:cs typeface="Arimo Bold"/>
                <a:sym typeface="Arimo Bold"/>
              </a:rPr>
              <a:t>Digital Payment Dominance</a:t>
            </a:r>
          </a:p>
        </p:txBody>
      </p:sp>
      <p:sp>
        <p:nvSpPr>
          <p:cNvPr name="TextBox 8" id="8"/>
          <p:cNvSpPr txBox="true"/>
          <p:nvPr/>
        </p:nvSpPr>
        <p:spPr>
          <a:xfrm rot="0">
            <a:off x="992238" y="3420818"/>
            <a:ext cx="9505359" cy="1465659"/>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UPI has emerged as the preferred payment method, reflecting India's digital payment revolution. This shift presents opportunities for seamless checkout experiences and reduced transaction costs.</a:t>
            </a:r>
          </a:p>
        </p:txBody>
      </p:sp>
      <p:sp>
        <p:nvSpPr>
          <p:cNvPr name="TextBox 9" id="9"/>
          <p:cNvSpPr txBox="true"/>
          <p:nvPr/>
        </p:nvSpPr>
        <p:spPr>
          <a:xfrm rot="0">
            <a:off x="992238" y="5131889"/>
            <a:ext cx="4983509" cy="481012"/>
          </a:xfrm>
          <a:prstGeom prst="rect">
            <a:avLst/>
          </a:prstGeom>
        </p:spPr>
        <p:txBody>
          <a:bodyPr anchor="t" rtlCol="false" tIns="0" lIns="0" bIns="0" rIns="0">
            <a:spAutoFit/>
          </a:bodyPr>
          <a:lstStyle/>
          <a:p>
            <a:pPr algn="l">
              <a:lnSpc>
                <a:spcPts val="3437"/>
              </a:lnSpc>
            </a:pPr>
            <a:r>
              <a:rPr lang="en-US" sz="2750" b="true">
                <a:solidFill>
                  <a:srgbClr val="403011"/>
                </a:solidFill>
                <a:latin typeface="Arimo Bold"/>
                <a:ea typeface="Arimo Bold"/>
                <a:cs typeface="Arimo Bold"/>
                <a:sym typeface="Arimo Bold"/>
              </a:rPr>
              <a:t>Payment Method Distribution</a:t>
            </a:r>
          </a:p>
        </p:txBody>
      </p:sp>
      <p:sp>
        <p:nvSpPr>
          <p:cNvPr name="TextBox 10" id="10"/>
          <p:cNvSpPr txBox="true"/>
          <p:nvPr/>
        </p:nvSpPr>
        <p:spPr>
          <a:xfrm rot="0">
            <a:off x="992238" y="5791648"/>
            <a:ext cx="9505359" cy="558403"/>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403011"/>
                </a:solidFill>
                <a:latin typeface="Arimo Bold"/>
                <a:ea typeface="Arimo Bold"/>
                <a:cs typeface="Arimo Bold"/>
                <a:sym typeface="Arimo Bold"/>
              </a:rPr>
              <a:t>UPI:</a:t>
            </a:r>
            <a:r>
              <a:rPr lang="en-US" sz="2187">
                <a:solidFill>
                  <a:srgbClr val="403011"/>
                </a:solidFill>
                <a:latin typeface="Arimo"/>
                <a:ea typeface="Arimo"/>
                <a:cs typeface="Arimo"/>
                <a:sym typeface="Arimo"/>
              </a:rPr>
              <a:t> 58% of all transactions</a:t>
            </a:r>
          </a:p>
        </p:txBody>
      </p:sp>
      <p:sp>
        <p:nvSpPr>
          <p:cNvPr name="TextBox 11" id="11"/>
          <p:cNvSpPr txBox="true"/>
          <p:nvPr/>
        </p:nvSpPr>
        <p:spPr>
          <a:xfrm rot="0">
            <a:off x="992238" y="6344393"/>
            <a:ext cx="9505359" cy="558403"/>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403011"/>
                </a:solidFill>
                <a:latin typeface="Arimo Bold"/>
                <a:ea typeface="Arimo Bold"/>
                <a:cs typeface="Arimo Bold"/>
                <a:sym typeface="Arimo Bold"/>
              </a:rPr>
              <a:t>Credit/Debit Cards:</a:t>
            </a:r>
            <a:r>
              <a:rPr lang="en-US" sz="2187">
                <a:solidFill>
                  <a:srgbClr val="403011"/>
                </a:solidFill>
                <a:latin typeface="Arimo"/>
                <a:ea typeface="Arimo"/>
                <a:cs typeface="Arimo"/>
                <a:sym typeface="Arimo"/>
              </a:rPr>
              <a:t> 28% of transactions</a:t>
            </a:r>
          </a:p>
        </p:txBody>
      </p:sp>
      <p:sp>
        <p:nvSpPr>
          <p:cNvPr name="TextBox 12" id="12"/>
          <p:cNvSpPr txBox="true"/>
          <p:nvPr/>
        </p:nvSpPr>
        <p:spPr>
          <a:xfrm rot="0">
            <a:off x="992238" y="6897138"/>
            <a:ext cx="9505359" cy="558403"/>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403011"/>
                </a:solidFill>
                <a:latin typeface="Arimo Bold"/>
                <a:ea typeface="Arimo Bold"/>
                <a:cs typeface="Arimo Bold"/>
                <a:sym typeface="Arimo Bold"/>
              </a:rPr>
              <a:t>Cash on Delivery:</a:t>
            </a:r>
            <a:r>
              <a:rPr lang="en-US" sz="2187">
                <a:solidFill>
                  <a:srgbClr val="403011"/>
                </a:solidFill>
                <a:latin typeface="Arimo"/>
                <a:ea typeface="Arimo"/>
                <a:cs typeface="Arimo"/>
                <a:sym typeface="Arimo"/>
              </a:rPr>
              <a:t> 14% of transactions</a:t>
            </a:r>
          </a:p>
        </p:txBody>
      </p:sp>
      <p:sp>
        <p:nvSpPr>
          <p:cNvPr name="TextBox 13" id="13"/>
          <p:cNvSpPr txBox="true"/>
          <p:nvPr/>
        </p:nvSpPr>
        <p:spPr>
          <a:xfrm rot="0">
            <a:off x="992238" y="7605865"/>
            <a:ext cx="9505359" cy="1012031"/>
          </a:xfrm>
          <a:prstGeom prst="rect">
            <a:avLst/>
          </a:prstGeom>
        </p:spPr>
        <p:txBody>
          <a:bodyPr anchor="t" rtlCol="false" tIns="0" lIns="0" bIns="0" rIns="0">
            <a:spAutoFit/>
          </a:bodyPr>
          <a:lstStyle/>
          <a:p>
            <a:pPr algn="l">
              <a:lnSpc>
                <a:spcPts val="3562"/>
              </a:lnSpc>
            </a:pPr>
            <a:r>
              <a:rPr lang="en-US" sz="2187">
                <a:solidFill>
                  <a:srgbClr val="403011"/>
                </a:solidFill>
                <a:latin typeface="Arimo"/>
                <a:ea typeface="Arimo"/>
                <a:cs typeface="Arimo"/>
                <a:sym typeface="Arimo"/>
              </a:rPr>
              <a:t>The declining COD trend indicates growing customer trust and digital adoption. Continue optimising digital payment infrastructure.</a:t>
            </a:r>
          </a:p>
        </p:txBody>
      </p:sp>
      <p:grpSp>
        <p:nvGrpSpPr>
          <p:cNvPr name="Group 14" id="14"/>
          <p:cNvGrpSpPr/>
          <p:nvPr/>
        </p:nvGrpSpPr>
        <p:grpSpPr>
          <a:xfrm rot="0">
            <a:off x="11198866" y="2745877"/>
            <a:ext cx="6106268" cy="6106268"/>
            <a:chOff x="0" y="0"/>
            <a:chExt cx="8141691" cy="8141691"/>
          </a:xfrm>
        </p:grpSpPr>
        <p:sp>
          <p:nvSpPr>
            <p:cNvPr name="Freeform 15" id="15" descr="preencoded.png"/>
            <p:cNvSpPr/>
            <p:nvPr/>
          </p:nvSpPr>
          <p:spPr>
            <a:xfrm flipH="false" flipV="false" rot="0">
              <a:off x="0" y="0"/>
              <a:ext cx="8141716" cy="8141716"/>
            </a:xfrm>
            <a:custGeom>
              <a:avLst/>
              <a:gdLst/>
              <a:ahLst/>
              <a:cxnLst/>
              <a:rect r="r" b="b" t="t" l="l"/>
              <a:pathLst>
                <a:path h="8141716" w="8141716">
                  <a:moveTo>
                    <a:pt x="0" y="0"/>
                  </a:moveTo>
                  <a:lnTo>
                    <a:pt x="8141716" y="0"/>
                  </a:lnTo>
                  <a:lnTo>
                    <a:pt x="8141716" y="8141716"/>
                  </a:lnTo>
                  <a:lnTo>
                    <a:pt x="0" y="8141716"/>
                  </a:lnTo>
                  <a:lnTo>
                    <a:pt x="0" y="0"/>
                  </a:lnTo>
                  <a:close/>
                </a:path>
              </a:pathLst>
            </a:custGeom>
            <a:blipFill>
              <a:blip r:embed="rId3"/>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087100" y="0"/>
            <a:ext cx="7200900" cy="10287000"/>
            <a:chOff x="0" y="0"/>
            <a:chExt cx="9601200" cy="13716000"/>
          </a:xfrm>
        </p:grpSpPr>
        <p:sp>
          <p:nvSpPr>
            <p:cNvPr name="Freeform 9" id="9"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19162" y="1285723"/>
            <a:ext cx="9432874" cy="877938"/>
          </a:xfrm>
          <a:prstGeom prst="rect">
            <a:avLst/>
          </a:prstGeom>
        </p:spPr>
        <p:txBody>
          <a:bodyPr anchor="t" rtlCol="false" tIns="0" lIns="0" bIns="0" rIns="0">
            <a:spAutoFit/>
          </a:bodyPr>
          <a:lstStyle/>
          <a:p>
            <a:pPr algn="l">
              <a:lnSpc>
                <a:spcPts val="6437"/>
              </a:lnSpc>
            </a:pPr>
            <a:r>
              <a:rPr lang="en-US" sz="5125" b="true">
                <a:solidFill>
                  <a:srgbClr val="403011"/>
                </a:solidFill>
                <a:latin typeface="Arimo Bold"/>
                <a:ea typeface="Arimo Bold"/>
                <a:cs typeface="Arimo Bold"/>
                <a:sym typeface="Arimo Bold"/>
              </a:rPr>
              <a:t>Order Patterns by Day of Week</a:t>
            </a:r>
          </a:p>
        </p:txBody>
      </p:sp>
      <p:grpSp>
        <p:nvGrpSpPr>
          <p:cNvPr name="Group 11" id="11"/>
          <p:cNvGrpSpPr/>
          <p:nvPr/>
        </p:nvGrpSpPr>
        <p:grpSpPr>
          <a:xfrm rot="0">
            <a:off x="1214590" y="2557462"/>
            <a:ext cx="28575" cy="6386665"/>
            <a:chOff x="0" y="0"/>
            <a:chExt cx="38100" cy="8515553"/>
          </a:xfrm>
        </p:grpSpPr>
        <p:sp>
          <p:nvSpPr>
            <p:cNvPr name="Freeform 12" id="12"/>
            <p:cNvSpPr/>
            <p:nvPr/>
          </p:nvSpPr>
          <p:spPr>
            <a:xfrm flipH="false" flipV="false" rot="0">
              <a:off x="0" y="0"/>
              <a:ext cx="38100" cy="8515604"/>
            </a:xfrm>
            <a:custGeom>
              <a:avLst/>
              <a:gdLst/>
              <a:ahLst/>
              <a:cxnLst/>
              <a:rect r="r" b="b" t="t" l="l"/>
              <a:pathLst>
                <a:path h="8515604" w="38100">
                  <a:moveTo>
                    <a:pt x="0" y="19050"/>
                  </a:moveTo>
                  <a:cubicBezTo>
                    <a:pt x="0" y="8509"/>
                    <a:pt x="8509" y="0"/>
                    <a:pt x="19050" y="0"/>
                  </a:cubicBezTo>
                  <a:cubicBezTo>
                    <a:pt x="29591" y="0"/>
                    <a:pt x="38100" y="8509"/>
                    <a:pt x="38100" y="19050"/>
                  </a:cubicBezTo>
                  <a:lnTo>
                    <a:pt x="38100" y="8496554"/>
                  </a:lnTo>
                  <a:cubicBezTo>
                    <a:pt x="38100" y="8507095"/>
                    <a:pt x="29591" y="8515604"/>
                    <a:pt x="19050" y="8515604"/>
                  </a:cubicBezTo>
                  <a:cubicBezTo>
                    <a:pt x="8509" y="8515604"/>
                    <a:pt x="0" y="8507095"/>
                    <a:pt x="0" y="8496554"/>
                  </a:cubicBezTo>
                  <a:close/>
                </a:path>
              </a:pathLst>
            </a:custGeom>
            <a:solidFill>
              <a:srgbClr val="000000">
                <a:alpha val="392"/>
              </a:srgbClr>
            </a:solidFill>
          </p:spPr>
        </p:sp>
      </p:grpSp>
      <p:grpSp>
        <p:nvGrpSpPr>
          <p:cNvPr name="Group 13" id="13"/>
          <p:cNvGrpSpPr/>
          <p:nvPr/>
        </p:nvGrpSpPr>
        <p:grpSpPr>
          <a:xfrm rot="0">
            <a:off x="1481433" y="2838602"/>
            <a:ext cx="787746" cy="28575"/>
            <a:chOff x="0" y="0"/>
            <a:chExt cx="1050328" cy="38100"/>
          </a:xfrm>
        </p:grpSpPr>
        <p:sp>
          <p:nvSpPr>
            <p:cNvPr name="Freeform 14" id="14"/>
            <p:cNvSpPr/>
            <p:nvPr/>
          </p:nvSpPr>
          <p:spPr>
            <a:xfrm flipH="false" flipV="false" rot="0">
              <a:off x="0" y="0"/>
              <a:ext cx="1050290" cy="38100"/>
            </a:xfrm>
            <a:custGeom>
              <a:avLst/>
              <a:gdLst/>
              <a:ahLst/>
              <a:cxnLst/>
              <a:rect r="r" b="b" t="t" l="l"/>
              <a:pathLst>
                <a:path h="38100" w="1050290">
                  <a:moveTo>
                    <a:pt x="0" y="19050"/>
                  </a:moveTo>
                  <a:cubicBezTo>
                    <a:pt x="0" y="8509"/>
                    <a:pt x="8509" y="0"/>
                    <a:pt x="19050" y="0"/>
                  </a:cubicBezTo>
                  <a:lnTo>
                    <a:pt x="1031240" y="0"/>
                  </a:lnTo>
                  <a:cubicBezTo>
                    <a:pt x="1041781" y="0"/>
                    <a:pt x="1050290" y="8509"/>
                    <a:pt x="1050290" y="19050"/>
                  </a:cubicBezTo>
                  <a:cubicBezTo>
                    <a:pt x="1050290" y="29591"/>
                    <a:pt x="1041781" y="38100"/>
                    <a:pt x="1031240" y="38100"/>
                  </a:cubicBezTo>
                  <a:lnTo>
                    <a:pt x="19050" y="38100"/>
                  </a:lnTo>
                  <a:cubicBezTo>
                    <a:pt x="8509" y="38100"/>
                    <a:pt x="0" y="29591"/>
                    <a:pt x="0" y="19050"/>
                  </a:cubicBezTo>
                  <a:close/>
                </a:path>
              </a:pathLst>
            </a:custGeom>
            <a:solidFill>
              <a:srgbClr val="7B8554"/>
            </a:solidFill>
          </p:spPr>
        </p:sp>
      </p:grpSp>
      <p:grpSp>
        <p:nvGrpSpPr>
          <p:cNvPr name="Group 15" id="15"/>
          <p:cNvGrpSpPr/>
          <p:nvPr/>
        </p:nvGrpSpPr>
        <p:grpSpPr>
          <a:xfrm rot="0">
            <a:off x="914400" y="2552700"/>
            <a:ext cx="600370" cy="600370"/>
            <a:chOff x="0" y="0"/>
            <a:chExt cx="800494" cy="800494"/>
          </a:xfrm>
        </p:grpSpPr>
        <p:sp>
          <p:nvSpPr>
            <p:cNvPr name="Freeform 16" id="16"/>
            <p:cNvSpPr/>
            <p:nvPr/>
          </p:nvSpPr>
          <p:spPr>
            <a:xfrm flipH="false" flipV="false" rot="0">
              <a:off x="6350" y="6350"/>
              <a:ext cx="787781" cy="787781"/>
            </a:xfrm>
            <a:custGeom>
              <a:avLst/>
              <a:gdLst/>
              <a:ahLst/>
              <a:cxnLst/>
              <a:rect r="r" b="b" t="t" l="l"/>
              <a:pathLst>
                <a:path h="787781" w="787781">
                  <a:moveTo>
                    <a:pt x="0" y="393954"/>
                  </a:moveTo>
                  <a:cubicBezTo>
                    <a:pt x="0" y="176403"/>
                    <a:pt x="176403" y="0"/>
                    <a:pt x="393954" y="0"/>
                  </a:cubicBezTo>
                  <a:cubicBezTo>
                    <a:pt x="611505" y="0"/>
                    <a:pt x="787781" y="176403"/>
                    <a:pt x="787781" y="393954"/>
                  </a:cubicBezTo>
                  <a:cubicBezTo>
                    <a:pt x="787781" y="611505"/>
                    <a:pt x="611505" y="787781"/>
                    <a:pt x="393954" y="787781"/>
                  </a:cubicBezTo>
                  <a:cubicBezTo>
                    <a:pt x="176403" y="787781"/>
                    <a:pt x="0" y="611505"/>
                    <a:pt x="0" y="393954"/>
                  </a:cubicBezTo>
                  <a:close/>
                </a:path>
              </a:pathLst>
            </a:custGeom>
            <a:solidFill>
              <a:srgbClr val="626C3B"/>
            </a:solidFill>
          </p:spPr>
        </p:sp>
        <p:sp>
          <p:nvSpPr>
            <p:cNvPr name="Freeform 17" id="17"/>
            <p:cNvSpPr/>
            <p:nvPr/>
          </p:nvSpPr>
          <p:spPr>
            <a:xfrm flipH="false" flipV="false" rot="0">
              <a:off x="0" y="0"/>
              <a:ext cx="800481" cy="800608"/>
            </a:xfrm>
            <a:custGeom>
              <a:avLst/>
              <a:gdLst/>
              <a:ahLst/>
              <a:cxnLst/>
              <a:rect r="r" b="b" t="t" l="l"/>
              <a:pathLst>
                <a:path h="800608" w="800481">
                  <a:moveTo>
                    <a:pt x="0" y="400304"/>
                  </a:moveTo>
                  <a:cubicBezTo>
                    <a:pt x="0" y="179197"/>
                    <a:pt x="179197" y="0"/>
                    <a:pt x="400304" y="0"/>
                  </a:cubicBezTo>
                  <a:cubicBezTo>
                    <a:pt x="402209" y="0"/>
                    <a:pt x="404114" y="889"/>
                    <a:pt x="405257" y="2413"/>
                  </a:cubicBezTo>
                  <a:lnTo>
                    <a:pt x="400304" y="6350"/>
                  </a:lnTo>
                  <a:lnTo>
                    <a:pt x="400304" y="0"/>
                  </a:lnTo>
                  <a:lnTo>
                    <a:pt x="400304" y="6350"/>
                  </a:lnTo>
                  <a:lnTo>
                    <a:pt x="400304" y="0"/>
                  </a:lnTo>
                  <a:cubicBezTo>
                    <a:pt x="621284" y="0"/>
                    <a:pt x="800481" y="179197"/>
                    <a:pt x="800481" y="400304"/>
                  </a:cubicBezTo>
                  <a:cubicBezTo>
                    <a:pt x="800481" y="403098"/>
                    <a:pt x="798703" y="405511"/>
                    <a:pt x="796163" y="406273"/>
                  </a:cubicBezTo>
                  <a:lnTo>
                    <a:pt x="794131" y="400304"/>
                  </a:lnTo>
                  <a:lnTo>
                    <a:pt x="800481" y="400304"/>
                  </a:lnTo>
                  <a:cubicBezTo>
                    <a:pt x="800481" y="621411"/>
                    <a:pt x="621284" y="800608"/>
                    <a:pt x="400177" y="800608"/>
                  </a:cubicBezTo>
                  <a:lnTo>
                    <a:pt x="400177" y="794258"/>
                  </a:lnTo>
                  <a:lnTo>
                    <a:pt x="400177" y="800608"/>
                  </a:lnTo>
                  <a:cubicBezTo>
                    <a:pt x="179197" y="800481"/>
                    <a:pt x="0" y="621284"/>
                    <a:pt x="0" y="400304"/>
                  </a:cubicBezTo>
                  <a:lnTo>
                    <a:pt x="6350" y="400304"/>
                  </a:lnTo>
                  <a:lnTo>
                    <a:pt x="0" y="400304"/>
                  </a:lnTo>
                  <a:moveTo>
                    <a:pt x="12700" y="400304"/>
                  </a:moveTo>
                  <a:lnTo>
                    <a:pt x="6350" y="400304"/>
                  </a:lnTo>
                  <a:lnTo>
                    <a:pt x="12700" y="400304"/>
                  </a:lnTo>
                  <a:cubicBezTo>
                    <a:pt x="12700" y="614299"/>
                    <a:pt x="186182" y="787781"/>
                    <a:pt x="400304" y="787781"/>
                  </a:cubicBezTo>
                  <a:cubicBezTo>
                    <a:pt x="614426" y="787781"/>
                    <a:pt x="787781" y="614299"/>
                    <a:pt x="787781" y="400304"/>
                  </a:cubicBezTo>
                  <a:cubicBezTo>
                    <a:pt x="787781" y="397510"/>
                    <a:pt x="789559" y="395097"/>
                    <a:pt x="792099" y="394335"/>
                  </a:cubicBezTo>
                  <a:lnTo>
                    <a:pt x="794131" y="400304"/>
                  </a:lnTo>
                  <a:lnTo>
                    <a:pt x="787781" y="400304"/>
                  </a:lnTo>
                  <a:cubicBezTo>
                    <a:pt x="787781" y="186182"/>
                    <a:pt x="614299" y="12700"/>
                    <a:pt x="400304" y="12700"/>
                  </a:cubicBezTo>
                  <a:cubicBezTo>
                    <a:pt x="398399" y="12700"/>
                    <a:pt x="396494" y="11811"/>
                    <a:pt x="395351" y="10287"/>
                  </a:cubicBezTo>
                  <a:lnTo>
                    <a:pt x="400304" y="6350"/>
                  </a:lnTo>
                  <a:lnTo>
                    <a:pt x="400304" y="12700"/>
                  </a:lnTo>
                  <a:cubicBezTo>
                    <a:pt x="186182" y="12700"/>
                    <a:pt x="12700" y="186182"/>
                    <a:pt x="12700" y="400304"/>
                  </a:cubicBezTo>
                  <a:close/>
                </a:path>
              </a:pathLst>
            </a:custGeom>
            <a:solidFill>
              <a:srgbClr val="7B8554"/>
            </a:solidFill>
          </p:spPr>
        </p:sp>
      </p:grpSp>
      <p:sp>
        <p:nvSpPr>
          <p:cNvPr name="TextBox 18" id="18"/>
          <p:cNvSpPr txBox="true"/>
          <p:nvPr/>
        </p:nvSpPr>
        <p:spPr>
          <a:xfrm rot="0">
            <a:off x="1017689" y="2644826"/>
            <a:ext cx="393802" cy="454228"/>
          </a:xfrm>
          <a:prstGeom prst="rect">
            <a:avLst/>
          </a:prstGeom>
        </p:spPr>
        <p:txBody>
          <a:bodyPr anchor="t" rtlCol="false" tIns="0" lIns="0" bIns="0" rIns="0">
            <a:spAutoFit/>
          </a:bodyPr>
          <a:lstStyle/>
          <a:p>
            <a:pPr algn="ctr">
              <a:lnSpc>
                <a:spcPts val="3062"/>
              </a:lnSpc>
            </a:pPr>
            <a:r>
              <a:rPr lang="en-US" sz="3062" b="true">
                <a:solidFill>
                  <a:srgbClr val="FFFFFF"/>
                </a:solidFill>
                <a:latin typeface="Arimo Bold"/>
                <a:ea typeface="Arimo Bold"/>
                <a:cs typeface="Arimo Bold"/>
                <a:sym typeface="Arimo Bold"/>
              </a:rPr>
              <a:t>1</a:t>
            </a:r>
          </a:p>
        </p:txBody>
      </p:sp>
      <p:sp>
        <p:nvSpPr>
          <p:cNvPr name="TextBox 19" id="19"/>
          <p:cNvSpPr txBox="true"/>
          <p:nvPr/>
        </p:nvSpPr>
        <p:spPr>
          <a:xfrm rot="0">
            <a:off x="2527697" y="2628605"/>
            <a:ext cx="3282706" cy="429368"/>
          </a:xfrm>
          <a:prstGeom prst="rect">
            <a:avLst/>
          </a:prstGeom>
        </p:spPr>
        <p:txBody>
          <a:bodyPr anchor="t" rtlCol="false" tIns="0" lIns="0" bIns="0" rIns="0">
            <a:spAutoFit/>
          </a:bodyPr>
          <a:lstStyle/>
          <a:p>
            <a:pPr algn="l">
              <a:lnSpc>
                <a:spcPts val="3187"/>
              </a:lnSpc>
            </a:pPr>
            <a:r>
              <a:rPr lang="en-US" sz="2562" b="true">
                <a:solidFill>
                  <a:srgbClr val="403011"/>
                </a:solidFill>
                <a:latin typeface="Arimo Bold"/>
                <a:ea typeface="Arimo Bold"/>
                <a:cs typeface="Arimo Bold"/>
                <a:sym typeface="Arimo Bold"/>
              </a:rPr>
              <a:t>Weekend Surge</a:t>
            </a:r>
          </a:p>
        </p:txBody>
      </p:sp>
      <p:sp>
        <p:nvSpPr>
          <p:cNvPr name="TextBox 20" id="20"/>
          <p:cNvSpPr txBox="true"/>
          <p:nvPr/>
        </p:nvSpPr>
        <p:spPr>
          <a:xfrm rot="0">
            <a:off x="2527697" y="3129705"/>
            <a:ext cx="7983141" cy="1346597"/>
          </a:xfrm>
          <a:prstGeom prst="rect">
            <a:avLst/>
          </a:prstGeom>
        </p:spPr>
        <p:txBody>
          <a:bodyPr anchor="t" rtlCol="false" tIns="0" lIns="0" bIns="0" rIns="0">
            <a:spAutoFit/>
          </a:bodyPr>
          <a:lstStyle/>
          <a:p>
            <a:pPr algn="l">
              <a:lnSpc>
                <a:spcPts val="3249"/>
              </a:lnSpc>
            </a:pPr>
            <a:r>
              <a:rPr lang="en-US" sz="2062">
                <a:solidFill>
                  <a:srgbClr val="403011"/>
                </a:solidFill>
                <a:latin typeface="Arimo"/>
                <a:ea typeface="Arimo"/>
                <a:cs typeface="Arimo"/>
                <a:sym typeface="Arimo"/>
              </a:rPr>
              <a:t>Saturday and Sunday show 40% higher order volumes compared to weekdays, indicating leisure shopping behaviour and family purchasing patterns.</a:t>
            </a:r>
          </a:p>
        </p:txBody>
      </p:sp>
      <p:grpSp>
        <p:nvGrpSpPr>
          <p:cNvPr name="Group 21" id="21"/>
          <p:cNvGrpSpPr/>
          <p:nvPr/>
        </p:nvGrpSpPr>
        <p:grpSpPr>
          <a:xfrm rot="0">
            <a:off x="1481433" y="5282651"/>
            <a:ext cx="787746" cy="28575"/>
            <a:chOff x="0" y="0"/>
            <a:chExt cx="1050328" cy="38100"/>
          </a:xfrm>
        </p:grpSpPr>
        <p:sp>
          <p:nvSpPr>
            <p:cNvPr name="Freeform 22" id="22"/>
            <p:cNvSpPr/>
            <p:nvPr/>
          </p:nvSpPr>
          <p:spPr>
            <a:xfrm flipH="false" flipV="false" rot="0">
              <a:off x="0" y="0"/>
              <a:ext cx="1050290" cy="38100"/>
            </a:xfrm>
            <a:custGeom>
              <a:avLst/>
              <a:gdLst/>
              <a:ahLst/>
              <a:cxnLst/>
              <a:rect r="r" b="b" t="t" l="l"/>
              <a:pathLst>
                <a:path h="38100" w="1050290">
                  <a:moveTo>
                    <a:pt x="0" y="19050"/>
                  </a:moveTo>
                  <a:cubicBezTo>
                    <a:pt x="0" y="8509"/>
                    <a:pt x="8509" y="0"/>
                    <a:pt x="19050" y="0"/>
                  </a:cubicBezTo>
                  <a:lnTo>
                    <a:pt x="1031240" y="0"/>
                  </a:lnTo>
                  <a:cubicBezTo>
                    <a:pt x="1041781" y="0"/>
                    <a:pt x="1050290" y="8509"/>
                    <a:pt x="1050290" y="19050"/>
                  </a:cubicBezTo>
                  <a:cubicBezTo>
                    <a:pt x="1050290" y="29591"/>
                    <a:pt x="1041781" y="38100"/>
                    <a:pt x="1031240" y="38100"/>
                  </a:cubicBezTo>
                  <a:lnTo>
                    <a:pt x="19050" y="38100"/>
                  </a:lnTo>
                  <a:cubicBezTo>
                    <a:pt x="8509" y="38100"/>
                    <a:pt x="0" y="29591"/>
                    <a:pt x="0" y="19050"/>
                  </a:cubicBezTo>
                  <a:close/>
                </a:path>
              </a:pathLst>
            </a:custGeom>
            <a:solidFill>
              <a:srgbClr val="9C9247"/>
            </a:solidFill>
          </p:spPr>
        </p:sp>
      </p:grpSp>
      <p:grpSp>
        <p:nvGrpSpPr>
          <p:cNvPr name="Group 23" id="23"/>
          <p:cNvGrpSpPr/>
          <p:nvPr/>
        </p:nvGrpSpPr>
        <p:grpSpPr>
          <a:xfrm rot="0">
            <a:off x="914400" y="4996758"/>
            <a:ext cx="600370" cy="600370"/>
            <a:chOff x="0" y="0"/>
            <a:chExt cx="800494" cy="800494"/>
          </a:xfrm>
        </p:grpSpPr>
        <p:sp>
          <p:nvSpPr>
            <p:cNvPr name="Freeform 24" id="24"/>
            <p:cNvSpPr/>
            <p:nvPr/>
          </p:nvSpPr>
          <p:spPr>
            <a:xfrm flipH="false" flipV="false" rot="0">
              <a:off x="6350" y="6350"/>
              <a:ext cx="787781" cy="787781"/>
            </a:xfrm>
            <a:custGeom>
              <a:avLst/>
              <a:gdLst/>
              <a:ahLst/>
              <a:cxnLst/>
              <a:rect r="r" b="b" t="t" l="l"/>
              <a:pathLst>
                <a:path h="787781" w="787781">
                  <a:moveTo>
                    <a:pt x="0" y="393954"/>
                  </a:moveTo>
                  <a:cubicBezTo>
                    <a:pt x="0" y="176403"/>
                    <a:pt x="176403" y="0"/>
                    <a:pt x="393954" y="0"/>
                  </a:cubicBezTo>
                  <a:cubicBezTo>
                    <a:pt x="611505" y="0"/>
                    <a:pt x="787781" y="176403"/>
                    <a:pt x="787781" y="393954"/>
                  </a:cubicBezTo>
                  <a:cubicBezTo>
                    <a:pt x="787781" y="611505"/>
                    <a:pt x="611505" y="787781"/>
                    <a:pt x="393954" y="787781"/>
                  </a:cubicBezTo>
                  <a:cubicBezTo>
                    <a:pt x="176403" y="787781"/>
                    <a:pt x="0" y="611505"/>
                    <a:pt x="0" y="393954"/>
                  </a:cubicBezTo>
                  <a:close/>
                </a:path>
              </a:pathLst>
            </a:custGeom>
            <a:solidFill>
              <a:srgbClr val="83792E"/>
            </a:solidFill>
          </p:spPr>
        </p:sp>
        <p:sp>
          <p:nvSpPr>
            <p:cNvPr name="Freeform 25" id="25"/>
            <p:cNvSpPr/>
            <p:nvPr/>
          </p:nvSpPr>
          <p:spPr>
            <a:xfrm flipH="false" flipV="false" rot="0">
              <a:off x="0" y="0"/>
              <a:ext cx="800481" cy="800608"/>
            </a:xfrm>
            <a:custGeom>
              <a:avLst/>
              <a:gdLst/>
              <a:ahLst/>
              <a:cxnLst/>
              <a:rect r="r" b="b" t="t" l="l"/>
              <a:pathLst>
                <a:path h="800608" w="800481">
                  <a:moveTo>
                    <a:pt x="0" y="400304"/>
                  </a:moveTo>
                  <a:cubicBezTo>
                    <a:pt x="0" y="179197"/>
                    <a:pt x="179197" y="0"/>
                    <a:pt x="400304" y="0"/>
                  </a:cubicBezTo>
                  <a:cubicBezTo>
                    <a:pt x="402209" y="0"/>
                    <a:pt x="404114" y="889"/>
                    <a:pt x="405257" y="2413"/>
                  </a:cubicBezTo>
                  <a:lnTo>
                    <a:pt x="400304" y="6350"/>
                  </a:lnTo>
                  <a:lnTo>
                    <a:pt x="400304" y="0"/>
                  </a:lnTo>
                  <a:lnTo>
                    <a:pt x="400304" y="6350"/>
                  </a:lnTo>
                  <a:lnTo>
                    <a:pt x="400304" y="0"/>
                  </a:lnTo>
                  <a:cubicBezTo>
                    <a:pt x="621284" y="0"/>
                    <a:pt x="800481" y="179197"/>
                    <a:pt x="800481" y="400304"/>
                  </a:cubicBezTo>
                  <a:cubicBezTo>
                    <a:pt x="800481" y="403098"/>
                    <a:pt x="798703" y="405511"/>
                    <a:pt x="796163" y="406273"/>
                  </a:cubicBezTo>
                  <a:lnTo>
                    <a:pt x="794131" y="400304"/>
                  </a:lnTo>
                  <a:lnTo>
                    <a:pt x="800481" y="400304"/>
                  </a:lnTo>
                  <a:cubicBezTo>
                    <a:pt x="800481" y="621411"/>
                    <a:pt x="621284" y="800608"/>
                    <a:pt x="400177" y="800608"/>
                  </a:cubicBezTo>
                  <a:lnTo>
                    <a:pt x="400177" y="794258"/>
                  </a:lnTo>
                  <a:lnTo>
                    <a:pt x="400177" y="800608"/>
                  </a:lnTo>
                  <a:cubicBezTo>
                    <a:pt x="179197" y="800481"/>
                    <a:pt x="0" y="621284"/>
                    <a:pt x="0" y="400304"/>
                  </a:cubicBezTo>
                  <a:lnTo>
                    <a:pt x="6350" y="400304"/>
                  </a:lnTo>
                  <a:lnTo>
                    <a:pt x="0" y="400304"/>
                  </a:lnTo>
                  <a:moveTo>
                    <a:pt x="12700" y="400304"/>
                  </a:moveTo>
                  <a:lnTo>
                    <a:pt x="6350" y="400304"/>
                  </a:lnTo>
                  <a:lnTo>
                    <a:pt x="12700" y="400304"/>
                  </a:lnTo>
                  <a:cubicBezTo>
                    <a:pt x="12700" y="614299"/>
                    <a:pt x="186182" y="787781"/>
                    <a:pt x="400304" y="787781"/>
                  </a:cubicBezTo>
                  <a:cubicBezTo>
                    <a:pt x="614426" y="787781"/>
                    <a:pt x="787781" y="614299"/>
                    <a:pt x="787781" y="400304"/>
                  </a:cubicBezTo>
                  <a:cubicBezTo>
                    <a:pt x="787781" y="397510"/>
                    <a:pt x="789559" y="395097"/>
                    <a:pt x="792099" y="394335"/>
                  </a:cubicBezTo>
                  <a:lnTo>
                    <a:pt x="794131" y="400304"/>
                  </a:lnTo>
                  <a:lnTo>
                    <a:pt x="787781" y="400304"/>
                  </a:lnTo>
                  <a:cubicBezTo>
                    <a:pt x="787781" y="186182"/>
                    <a:pt x="614299" y="12700"/>
                    <a:pt x="400304" y="12700"/>
                  </a:cubicBezTo>
                  <a:cubicBezTo>
                    <a:pt x="398399" y="12700"/>
                    <a:pt x="396494" y="11811"/>
                    <a:pt x="395351" y="10287"/>
                  </a:cubicBezTo>
                  <a:lnTo>
                    <a:pt x="400304" y="6350"/>
                  </a:lnTo>
                  <a:lnTo>
                    <a:pt x="400304" y="12700"/>
                  </a:lnTo>
                  <a:cubicBezTo>
                    <a:pt x="186182" y="12700"/>
                    <a:pt x="12700" y="186182"/>
                    <a:pt x="12700" y="400304"/>
                  </a:cubicBezTo>
                  <a:close/>
                </a:path>
              </a:pathLst>
            </a:custGeom>
            <a:solidFill>
              <a:srgbClr val="9C9247"/>
            </a:solidFill>
          </p:spPr>
        </p:sp>
      </p:grpSp>
      <p:sp>
        <p:nvSpPr>
          <p:cNvPr name="TextBox 26" id="26"/>
          <p:cNvSpPr txBox="true"/>
          <p:nvPr/>
        </p:nvSpPr>
        <p:spPr>
          <a:xfrm rot="0">
            <a:off x="1017689" y="5088884"/>
            <a:ext cx="393802" cy="454228"/>
          </a:xfrm>
          <a:prstGeom prst="rect">
            <a:avLst/>
          </a:prstGeom>
        </p:spPr>
        <p:txBody>
          <a:bodyPr anchor="t" rtlCol="false" tIns="0" lIns="0" bIns="0" rIns="0">
            <a:spAutoFit/>
          </a:bodyPr>
          <a:lstStyle/>
          <a:p>
            <a:pPr algn="ctr">
              <a:lnSpc>
                <a:spcPts val="3062"/>
              </a:lnSpc>
            </a:pPr>
            <a:r>
              <a:rPr lang="en-US" sz="3062" b="true">
                <a:solidFill>
                  <a:srgbClr val="FFFFFF"/>
                </a:solidFill>
                <a:latin typeface="Arimo Bold"/>
                <a:ea typeface="Arimo Bold"/>
                <a:cs typeface="Arimo Bold"/>
                <a:sym typeface="Arimo Bold"/>
              </a:rPr>
              <a:t>2</a:t>
            </a:r>
          </a:p>
        </p:txBody>
      </p:sp>
      <p:sp>
        <p:nvSpPr>
          <p:cNvPr name="TextBox 27" id="27"/>
          <p:cNvSpPr txBox="true"/>
          <p:nvPr/>
        </p:nvSpPr>
        <p:spPr>
          <a:xfrm rot="0">
            <a:off x="2527697" y="5072653"/>
            <a:ext cx="3536747" cy="429368"/>
          </a:xfrm>
          <a:prstGeom prst="rect">
            <a:avLst/>
          </a:prstGeom>
        </p:spPr>
        <p:txBody>
          <a:bodyPr anchor="t" rtlCol="false" tIns="0" lIns="0" bIns="0" rIns="0">
            <a:spAutoFit/>
          </a:bodyPr>
          <a:lstStyle/>
          <a:p>
            <a:pPr algn="l">
              <a:lnSpc>
                <a:spcPts val="3187"/>
              </a:lnSpc>
            </a:pPr>
            <a:r>
              <a:rPr lang="en-US" sz="2562" b="true">
                <a:solidFill>
                  <a:srgbClr val="403011"/>
                </a:solidFill>
                <a:latin typeface="Arimo Bold"/>
                <a:ea typeface="Arimo Bold"/>
                <a:cs typeface="Arimo Bold"/>
                <a:sym typeface="Arimo Bold"/>
              </a:rPr>
              <a:t>Mid-Week Consistency</a:t>
            </a:r>
          </a:p>
        </p:txBody>
      </p:sp>
      <p:sp>
        <p:nvSpPr>
          <p:cNvPr name="TextBox 28" id="28"/>
          <p:cNvSpPr txBox="true"/>
          <p:nvPr/>
        </p:nvSpPr>
        <p:spPr>
          <a:xfrm rot="0">
            <a:off x="2527697" y="5573763"/>
            <a:ext cx="7983141" cy="1346597"/>
          </a:xfrm>
          <a:prstGeom prst="rect">
            <a:avLst/>
          </a:prstGeom>
        </p:spPr>
        <p:txBody>
          <a:bodyPr anchor="t" rtlCol="false" tIns="0" lIns="0" bIns="0" rIns="0">
            <a:spAutoFit/>
          </a:bodyPr>
          <a:lstStyle/>
          <a:p>
            <a:pPr algn="l">
              <a:lnSpc>
                <a:spcPts val="3249"/>
              </a:lnSpc>
            </a:pPr>
            <a:r>
              <a:rPr lang="en-US" sz="2062">
                <a:solidFill>
                  <a:srgbClr val="403011"/>
                </a:solidFill>
                <a:latin typeface="Arimo"/>
                <a:ea typeface="Arimo"/>
                <a:cs typeface="Arimo"/>
                <a:sym typeface="Arimo"/>
              </a:rPr>
              <a:t>Tuesday through Thursday demonstrate steady baseline orders, representing routine household purchases and planned shopping.</a:t>
            </a:r>
          </a:p>
        </p:txBody>
      </p:sp>
      <p:grpSp>
        <p:nvGrpSpPr>
          <p:cNvPr name="Group 29" id="29"/>
          <p:cNvGrpSpPr/>
          <p:nvPr/>
        </p:nvGrpSpPr>
        <p:grpSpPr>
          <a:xfrm rot="0">
            <a:off x="1481433" y="7726709"/>
            <a:ext cx="787746" cy="28575"/>
            <a:chOff x="0" y="0"/>
            <a:chExt cx="1050328" cy="38100"/>
          </a:xfrm>
        </p:grpSpPr>
        <p:sp>
          <p:nvSpPr>
            <p:cNvPr name="Freeform 30" id="30"/>
            <p:cNvSpPr/>
            <p:nvPr/>
          </p:nvSpPr>
          <p:spPr>
            <a:xfrm flipH="false" flipV="false" rot="0">
              <a:off x="0" y="0"/>
              <a:ext cx="1050290" cy="38100"/>
            </a:xfrm>
            <a:custGeom>
              <a:avLst/>
              <a:gdLst/>
              <a:ahLst/>
              <a:cxnLst/>
              <a:rect r="r" b="b" t="t" l="l"/>
              <a:pathLst>
                <a:path h="38100" w="1050290">
                  <a:moveTo>
                    <a:pt x="0" y="19050"/>
                  </a:moveTo>
                  <a:cubicBezTo>
                    <a:pt x="0" y="8509"/>
                    <a:pt x="8509" y="0"/>
                    <a:pt x="19050" y="0"/>
                  </a:cubicBezTo>
                  <a:lnTo>
                    <a:pt x="1031240" y="0"/>
                  </a:lnTo>
                  <a:cubicBezTo>
                    <a:pt x="1041781" y="0"/>
                    <a:pt x="1050290" y="8509"/>
                    <a:pt x="1050290" y="19050"/>
                  </a:cubicBezTo>
                  <a:cubicBezTo>
                    <a:pt x="1050290" y="29591"/>
                    <a:pt x="1041781" y="38100"/>
                    <a:pt x="1031240" y="38100"/>
                  </a:cubicBezTo>
                  <a:lnTo>
                    <a:pt x="19050" y="38100"/>
                  </a:lnTo>
                  <a:cubicBezTo>
                    <a:pt x="8509" y="38100"/>
                    <a:pt x="0" y="29591"/>
                    <a:pt x="0" y="19050"/>
                  </a:cubicBezTo>
                  <a:close/>
                </a:path>
              </a:pathLst>
            </a:custGeom>
            <a:solidFill>
              <a:srgbClr val="CE9521"/>
            </a:solidFill>
          </p:spPr>
        </p:sp>
      </p:grpSp>
      <p:grpSp>
        <p:nvGrpSpPr>
          <p:cNvPr name="Group 31" id="31"/>
          <p:cNvGrpSpPr/>
          <p:nvPr/>
        </p:nvGrpSpPr>
        <p:grpSpPr>
          <a:xfrm rot="0">
            <a:off x="914400" y="7440816"/>
            <a:ext cx="600370" cy="600370"/>
            <a:chOff x="0" y="0"/>
            <a:chExt cx="800494" cy="800494"/>
          </a:xfrm>
        </p:grpSpPr>
        <p:sp>
          <p:nvSpPr>
            <p:cNvPr name="Freeform 32" id="32"/>
            <p:cNvSpPr/>
            <p:nvPr/>
          </p:nvSpPr>
          <p:spPr>
            <a:xfrm flipH="false" flipV="false" rot="0">
              <a:off x="6350" y="6350"/>
              <a:ext cx="787781" cy="787781"/>
            </a:xfrm>
            <a:custGeom>
              <a:avLst/>
              <a:gdLst/>
              <a:ahLst/>
              <a:cxnLst/>
              <a:rect r="r" b="b" t="t" l="l"/>
              <a:pathLst>
                <a:path h="787781" w="787781">
                  <a:moveTo>
                    <a:pt x="0" y="393954"/>
                  </a:moveTo>
                  <a:cubicBezTo>
                    <a:pt x="0" y="176403"/>
                    <a:pt x="176403" y="0"/>
                    <a:pt x="393954" y="0"/>
                  </a:cubicBezTo>
                  <a:cubicBezTo>
                    <a:pt x="611505" y="0"/>
                    <a:pt x="787781" y="176403"/>
                    <a:pt x="787781" y="393954"/>
                  </a:cubicBezTo>
                  <a:cubicBezTo>
                    <a:pt x="787781" y="611505"/>
                    <a:pt x="611505" y="787781"/>
                    <a:pt x="393954" y="787781"/>
                  </a:cubicBezTo>
                  <a:cubicBezTo>
                    <a:pt x="176403" y="787781"/>
                    <a:pt x="0" y="611505"/>
                    <a:pt x="0" y="393954"/>
                  </a:cubicBezTo>
                  <a:close/>
                </a:path>
              </a:pathLst>
            </a:custGeom>
            <a:solidFill>
              <a:srgbClr val="E8AF3B"/>
            </a:solidFill>
          </p:spPr>
        </p:sp>
        <p:sp>
          <p:nvSpPr>
            <p:cNvPr name="Freeform 33" id="33"/>
            <p:cNvSpPr/>
            <p:nvPr/>
          </p:nvSpPr>
          <p:spPr>
            <a:xfrm flipH="false" flipV="false" rot="0">
              <a:off x="0" y="0"/>
              <a:ext cx="800481" cy="800608"/>
            </a:xfrm>
            <a:custGeom>
              <a:avLst/>
              <a:gdLst/>
              <a:ahLst/>
              <a:cxnLst/>
              <a:rect r="r" b="b" t="t" l="l"/>
              <a:pathLst>
                <a:path h="800608" w="800481">
                  <a:moveTo>
                    <a:pt x="0" y="400304"/>
                  </a:moveTo>
                  <a:cubicBezTo>
                    <a:pt x="0" y="179197"/>
                    <a:pt x="179197" y="0"/>
                    <a:pt x="400304" y="0"/>
                  </a:cubicBezTo>
                  <a:cubicBezTo>
                    <a:pt x="402209" y="0"/>
                    <a:pt x="404114" y="889"/>
                    <a:pt x="405257" y="2413"/>
                  </a:cubicBezTo>
                  <a:lnTo>
                    <a:pt x="400304" y="6350"/>
                  </a:lnTo>
                  <a:lnTo>
                    <a:pt x="400304" y="0"/>
                  </a:lnTo>
                  <a:lnTo>
                    <a:pt x="400304" y="6350"/>
                  </a:lnTo>
                  <a:lnTo>
                    <a:pt x="400304" y="0"/>
                  </a:lnTo>
                  <a:cubicBezTo>
                    <a:pt x="621284" y="0"/>
                    <a:pt x="800481" y="179197"/>
                    <a:pt x="800481" y="400304"/>
                  </a:cubicBezTo>
                  <a:cubicBezTo>
                    <a:pt x="800481" y="403098"/>
                    <a:pt x="798703" y="405511"/>
                    <a:pt x="796163" y="406273"/>
                  </a:cubicBezTo>
                  <a:lnTo>
                    <a:pt x="794131" y="400304"/>
                  </a:lnTo>
                  <a:lnTo>
                    <a:pt x="800481" y="400304"/>
                  </a:lnTo>
                  <a:cubicBezTo>
                    <a:pt x="800481" y="621411"/>
                    <a:pt x="621284" y="800608"/>
                    <a:pt x="400177" y="800608"/>
                  </a:cubicBezTo>
                  <a:lnTo>
                    <a:pt x="400177" y="794258"/>
                  </a:lnTo>
                  <a:lnTo>
                    <a:pt x="400177" y="800608"/>
                  </a:lnTo>
                  <a:cubicBezTo>
                    <a:pt x="179197" y="800481"/>
                    <a:pt x="0" y="621284"/>
                    <a:pt x="0" y="400304"/>
                  </a:cubicBezTo>
                  <a:lnTo>
                    <a:pt x="6350" y="400304"/>
                  </a:lnTo>
                  <a:lnTo>
                    <a:pt x="0" y="400304"/>
                  </a:lnTo>
                  <a:moveTo>
                    <a:pt x="12700" y="400304"/>
                  </a:moveTo>
                  <a:lnTo>
                    <a:pt x="6350" y="400304"/>
                  </a:lnTo>
                  <a:lnTo>
                    <a:pt x="12700" y="400304"/>
                  </a:lnTo>
                  <a:cubicBezTo>
                    <a:pt x="12700" y="614299"/>
                    <a:pt x="186182" y="787781"/>
                    <a:pt x="400304" y="787781"/>
                  </a:cubicBezTo>
                  <a:cubicBezTo>
                    <a:pt x="614426" y="787781"/>
                    <a:pt x="787781" y="614299"/>
                    <a:pt x="787781" y="400304"/>
                  </a:cubicBezTo>
                  <a:cubicBezTo>
                    <a:pt x="787781" y="397510"/>
                    <a:pt x="789559" y="395097"/>
                    <a:pt x="792099" y="394335"/>
                  </a:cubicBezTo>
                  <a:lnTo>
                    <a:pt x="794131" y="400304"/>
                  </a:lnTo>
                  <a:lnTo>
                    <a:pt x="787781" y="400304"/>
                  </a:lnTo>
                  <a:cubicBezTo>
                    <a:pt x="787781" y="186182"/>
                    <a:pt x="614299" y="12700"/>
                    <a:pt x="400304" y="12700"/>
                  </a:cubicBezTo>
                  <a:cubicBezTo>
                    <a:pt x="398399" y="12700"/>
                    <a:pt x="396494" y="11811"/>
                    <a:pt x="395351" y="10287"/>
                  </a:cubicBezTo>
                  <a:lnTo>
                    <a:pt x="400304" y="6350"/>
                  </a:lnTo>
                  <a:lnTo>
                    <a:pt x="400304" y="12700"/>
                  </a:lnTo>
                  <a:cubicBezTo>
                    <a:pt x="186182" y="12700"/>
                    <a:pt x="12700" y="186182"/>
                    <a:pt x="12700" y="400304"/>
                  </a:cubicBezTo>
                  <a:close/>
                </a:path>
              </a:pathLst>
            </a:custGeom>
            <a:solidFill>
              <a:srgbClr val="CE9521"/>
            </a:solidFill>
          </p:spPr>
        </p:sp>
      </p:grpSp>
      <p:sp>
        <p:nvSpPr>
          <p:cNvPr name="TextBox 34" id="34"/>
          <p:cNvSpPr txBox="true"/>
          <p:nvPr/>
        </p:nvSpPr>
        <p:spPr>
          <a:xfrm rot="0">
            <a:off x="1017689" y="7532932"/>
            <a:ext cx="393802" cy="454228"/>
          </a:xfrm>
          <a:prstGeom prst="rect">
            <a:avLst/>
          </a:prstGeom>
        </p:spPr>
        <p:txBody>
          <a:bodyPr anchor="t" rtlCol="false" tIns="0" lIns="0" bIns="0" rIns="0">
            <a:spAutoFit/>
          </a:bodyPr>
          <a:lstStyle/>
          <a:p>
            <a:pPr algn="ctr">
              <a:lnSpc>
                <a:spcPts val="3062"/>
              </a:lnSpc>
            </a:pPr>
            <a:r>
              <a:rPr lang="en-US" sz="3062" b="true">
                <a:solidFill>
                  <a:srgbClr val="000000"/>
                </a:solidFill>
                <a:latin typeface="Arimo Bold"/>
                <a:ea typeface="Arimo Bold"/>
                <a:cs typeface="Arimo Bold"/>
                <a:sym typeface="Arimo Bold"/>
              </a:rPr>
              <a:t>3</a:t>
            </a:r>
          </a:p>
        </p:txBody>
      </p:sp>
      <p:sp>
        <p:nvSpPr>
          <p:cNvPr name="TextBox 35" id="35"/>
          <p:cNvSpPr txBox="true"/>
          <p:nvPr/>
        </p:nvSpPr>
        <p:spPr>
          <a:xfrm rot="0">
            <a:off x="2527697" y="7516711"/>
            <a:ext cx="3282706" cy="429368"/>
          </a:xfrm>
          <a:prstGeom prst="rect">
            <a:avLst/>
          </a:prstGeom>
        </p:spPr>
        <p:txBody>
          <a:bodyPr anchor="t" rtlCol="false" tIns="0" lIns="0" bIns="0" rIns="0">
            <a:spAutoFit/>
          </a:bodyPr>
          <a:lstStyle/>
          <a:p>
            <a:pPr algn="l">
              <a:lnSpc>
                <a:spcPts val="3187"/>
              </a:lnSpc>
            </a:pPr>
            <a:r>
              <a:rPr lang="en-US" sz="2562" b="true">
                <a:solidFill>
                  <a:srgbClr val="403011"/>
                </a:solidFill>
                <a:latin typeface="Arimo Bold"/>
                <a:ea typeface="Arimo Bold"/>
                <a:cs typeface="Arimo Bold"/>
                <a:sym typeface="Arimo Bold"/>
              </a:rPr>
              <a:t>Monday Dip</a:t>
            </a:r>
          </a:p>
        </p:txBody>
      </p:sp>
      <p:sp>
        <p:nvSpPr>
          <p:cNvPr name="TextBox 36" id="36"/>
          <p:cNvSpPr txBox="true"/>
          <p:nvPr/>
        </p:nvSpPr>
        <p:spPr>
          <a:xfrm rot="0">
            <a:off x="2527697" y="8017821"/>
            <a:ext cx="7983141" cy="926306"/>
          </a:xfrm>
          <a:prstGeom prst="rect">
            <a:avLst/>
          </a:prstGeom>
        </p:spPr>
        <p:txBody>
          <a:bodyPr anchor="t" rtlCol="false" tIns="0" lIns="0" bIns="0" rIns="0">
            <a:spAutoFit/>
          </a:bodyPr>
          <a:lstStyle/>
          <a:p>
            <a:pPr algn="l">
              <a:lnSpc>
                <a:spcPts val="3249"/>
              </a:lnSpc>
            </a:pPr>
            <a:r>
              <a:rPr lang="en-US" sz="2062">
                <a:solidFill>
                  <a:srgbClr val="403011"/>
                </a:solidFill>
                <a:latin typeface="Arimo"/>
                <a:ea typeface="Arimo"/>
                <a:cs typeface="Arimo"/>
                <a:sym typeface="Arimo"/>
              </a:rPr>
              <a:t>Lowest order day reflects post-weekend patterns. Opportunity for targeted promotions and incentives to boost early-week sales.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1C06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EBD4"/>
            </a:solidFill>
          </p:spPr>
        </p:sp>
      </p:grpSp>
      <p:sp>
        <p:nvSpPr>
          <p:cNvPr name="TextBox 6" id="6"/>
          <p:cNvSpPr txBox="true"/>
          <p:nvPr/>
        </p:nvSpPr>
        <p:spPr>
          <a:xfrm rot="0">
            <a:off x="896388" y="659159"/>
            <a:ext cx="8600037" cy="848020"/>
          </a:xfrm>
          <a:prstGeom prst="rect">
            <a:avLst/>
          </a:prstGeom>
        </p:spPr>
        <p:txBody>
          <a:bodyPr anchor="t" rtlCol="false" tIns="0" lIns="0" bIns="0" rIns="0">
            <a:spAutoFit/>
          </a:bodyPr>
          <a:lstStyle/>
          <a:p>
            <a:pPr algn="l">
              <a:lnSpc>
                <a:spcPts val="6249"/>
              </a:lnSpc>
            </a:pPr>
            <a:r>
              <a:rPr lang="en-US" sz="4999" b="true">
                <a:solidFill>
                  <a:srgbClr val="403011"/>
                </a:solidFill>
                <a:latin typeface="Arimo Bold"/>
                <a:ea typeface="Arimo Bold"/>
                <a:cs typeface="Arimo Bold"/>
                <a:sym typeface="Arimo Bold"/>
              </a:rPr>
              <a:t>Strategic Recommendations</a:t>
            </a:r>
          </a:p>
        </p:txBody>
      </p:sp>
      <p:sp>
        <p:nvSpPr>
          <p:cNvPr name="TextBox 7" id="7"/>
          <p:cNvSpPr txBox="true"/>
          <p:nvPr/>
        </p:nvSpPr>
        <p:spPr>
          <a:xfrm rot="0">
            <a:off x="896388" y="1943252"/>
            <a:ext cx="16495214" cy="485927"/>
          </a:xfrm>
          <a:prstGeom prst="rect">
            <a:avLst/>
          </a:prstGeom>
        </p:spPr>
        <p:txBody>
          <a:bodyPr anchor="t" rtlCol="false" tIns="0" lIns="0" bIns="0" rIns="0">
            <a:spAutoFit/>
          </a:bodyPr>
          <a:lstStyle/>
          <a:p>
            <a:pPr algn="l">
              <a:lnSpc>
                <a:spcPts val="3187"/>
              </a:lnSpc>
            </a:pPr>
            <a:r>
              <a:rPr lang="en-US" sz="2000">
                <a:solidFill>
                  <a:srgbClr val="403011"/>
                </a:solidFill>
                <a:latin typeface="Arimo"/>
                <a:ea typeface="Arimo"/>
                <a:cs typeface="Arimo"/>
                <a:sym typeface="Arimo"/>
              </a:rPr>
              <a:t>Three actionable priorities to drive 10% revenue growth in the next fiscal year.</a:t>
            </a:r>
          </a:p>
        </p:txBody>
      </p:sp>
      <p:grpSp>
        <p:nvGrpSpPr>
          <p:cNvPr name="Group 8" id="8"/>
          <p:cNvGrpSpPr/>
          <p:nvPr/>
        </p:nvGrpSpPr>
        <p:grpSpPr>
          <a:xfrm rot="0">
            <a:off x="1275759" y="3737077"/>
            <a:ext cx="4952848" cy="265662"/>
            <a:chOff x="0" y="0"/>
            <a:chExt cx="6603797" cy="354216"/>
          </a:xfrm>
        </p:grpSpPr>
        <p:sp>
          <p:nvSpPr>
            <p:cNvPr name="Freeform 9" id="9"/>
            <p:cNvSpPr/>
            <p:nvPr/>
          </p:nvSpPr>
          <p:spPr>
            <a:xfrm flipH="false" flipV="false" rot="0">
              <a:off x="6350" y="6350"/>
              <a:ext cx="6591173" cy="341630"/>
            </a:xfrm>
            <a:custGeom>
              <a:avLst/>
              <a:gdLst/>
              <a:ahLst/>
              <a:cxnLst/>
              <a:rect r="r" b="b" t="t" l="l"/>
              <a:pathLst>
                <a:path h="341630" w="6591173">
                  <a:moveTo>
                    <a:pt x="0" y="170815"/>
                  </a:moveTo>
                  <a:cubicBezTo>
                    <a:pt x="0" y="76454"/>
                    <a:pt x="79121" y="0"/>
                    <a:pt x="176784" y="0"/>
                  </a:cubicBezTo>
                  <a:lnTo>
                    <a:pt x="6414389" y="0"/>
                  </a:lnTo>
                  <a:cubicBezTo>
                    <a:pt x="6512052" y="0"/>
                    <a:pt x="6591173" y="76454"/>
                    <a:pt x="6591173" y="170815"/>
                  </a:cubicBezTo>
                  <a:cubicBezTo>
                    <a:pt x="6591173" y="265176"/>
                    <a:pt x="6512052" y="341630"/>
                    <a:pt x="6414389" y="341630"/>
                  </a:cubicBezTo>
                  <a:lnTo>
                    <a:pt x="176784" y="341630"/>
                  </a:lnTo>
                  <a:cubicBezTo>
                    <a:pt x="79121" y="341503"/>
                    <a:pt x="0" y="265049"/>
                    <a:pt x="0" y="170815"/>
                  </a:cubicBezTo>
                  <a:close/>
                </a:path>
              </a:pathLst>
            </a:custGeom>
            <a:solidFill>
              <a:srgbClr val="626C3B"/>
            </a:solidFill>
          </p:spPr>
        </p:sp>
        <p:sp>
          <p:nvSpPr>
            <p:cNvPr name="Freeform 10" id="10"/>
            <p:cNvSpPr/>
            <p:nvPr/>
          </p:nvSpPr>
          <p:spPr>
            <a:xfrm flipH="false" flipV="false" rot="0">
              <a:off x="0" y="0"/>
              <a:ext cx="6603873" cy="354330"/>
            </a:xfrm>
            <a:custGeom>
              <a:avLst/>
              <a:gdLst/>
              <a:ahLst/>
              <a:cxnLst/>
              <a:rect r="r" b="b" t="t" l="l"/>
              <a:pathLst>
                <a:path h="354330" w="6603873">
                  <a:moveTo>
                    <a:pt x="0" y="177165"/>
                  </a:moveTo>
                  <a:cubicBezTo>
                    <a:pt x="0" y="79121"/>
                    <a:pt x="82169" y="0"/>
                    <a:pt x="183134" y="0"/>
                  </a:cubicBezTo>
                  <a:lnTo>
                    <a:pt x="6420739" y="0"/>
                  </a:lnTo>
                  <a:lnTo>
                    <a:pt x="6420739" y="6350"/>
                  </a:lnTo>
                  <a:lnTo>
                    <a:pt x="6420739" y="0"/>
                  </a:lnTo>
                  <a:cubicBezTo>
                    <a:pt x="6521704" y="0"/>
                    <a:pt x="6603873" y="79121"/>
                    <a:pt x="6603873" y="177165"/>
                  </a:cubicBezTo>
                  <a:lnTo>
                    <a:pt x="6597523" y="177165"/>
                  </a:lnTo>
                  <a:lnTo>
                    <a:pt x="6603873" y="177165"/>
                  </a:lnTo>
                  <a:lnTo>
                    <a:pt x="6597523" y="177165"/>
                  </a:lnTo>
                  <a:lnTo>
                    <a:pt x="6603873" y="177165"/>
                  </a:lnTo>
                  <a:cubicBezTo>
                    <a:pt x="6603873" y="275209"/>
                    <a:pt x="6521704" y="354330"/>
                    <a:pt x="6420739" y="354330"/>
                  </a:cubicBezTo>
                  <a:lnTo>
                    <a:pt x="6420739" y="347980"/>
                  </a:lnTo>
                  <a:lnTo>
                    <a:pt x="6420739" y="354330"/>
                  </a:lnTo>
                  <a:lnTo>
                    <a:pt x="183134" y="354330"/>
                  </a:lnTo>
                  <a:lnTo>
                    <a:pt x="183134" y="347980"/>
                  </a:lnTo>
                  <a:lnTo>
                    <a:pt x="183134" y="354330"/>
                  </a:lnTo>
                  <a:cubicBezTo>
                    <a:pt x="82169" y="354203"/>
                    <a:pt x="0" y="275082"/>
                    <a:pt x="0" y="177165"/>
                  </a:cubicBezTo>
                  <a:lnTo>
                    <a:pt x="6350" y="177165"/>
                  </a:lnTo>
                  <a:lnTo>
                    <a:pt x="0" y="177165"/>
                  </a:lnTo>
                  <a:moveTo>
                    <a:pt x="12700" y="177165"/>
                  </a:moveTo>
                  <a:lnTo>
                    <a:pt x="6350" y="177165"/>
                  </a:lnTo>
                  <a:lnTo>
                    <a:pt x="12700" y="177165"/>
                  </a:lnTo>
                  <a:cubicBezTo>
                    <a:pt x="12700" y="267716"/>
                    <a:pt x="88773" y="341630"/>
                    <a:pt x="183134" y="341630"/>
                  </a:cubicBezTo>
                  <a:lnTo>
                    <a:pt x="6420739" y="341630"/>
                  </a:lnTo>
                  <a:cubicBezTo>
                    <a:pt x="6515100" y="341630"/>
                    <a:pt x="6591173" y="267843"/>
                    <a:pt x="6591173" y="177165"/>
                  </a:cubicBezTo>
                  <a:cubicBezTo>
                    <a:pt x="6591173" y="86487"/>
                    <a:pt x="6514973" y="12700"/>
                    <a:pt x="6420739" y="12700"/>
                  </a:cubicBezTo>
                  <a:lnTo>
                    <a:pt x="183134" y="12700"/>
                  </a:lnTo>
                  <a:lnTo>
                    <a:pt x="183134" y="6350"/>
                  </a:lnTo>
                  <a:lnTo>
                    <a:pt x="183134" y="12700"/>
                  </a:lnTo>
                  <a:cubicBezTo>
                    <a:pt x="88773" y="12700"/>
                    <a:pt x="12700" y="86487"/>
                    <a:pt x="12700" y="177165"/>
                  </a:cubicBezTo>
                  <a:close/>
                </a:path>
              </a:pathLst>
            </a:custGeom>
            <a:solidFill>
              <a:srgbClr val="7B8554"/>
            </a:solidFill>
          </p:spPr>
        </p:sp>
      </p:grpSp>
      <p:grpSp>
        <p:nvGrpSpPr>
          <p:cNvPr name="Group 11" id="11"/>
          <p:cNvGrpSpPr/>
          <p:nvPr/>
        </p:nvGrpSpPr>
        <p:grpSpPr>
          <a:xfrm rot="0">
            <a:off x="891626" y="3480864"/>
            <a:ext cx="777926" cy="777926"/>
            <a:chOff x="0" y="0"/>
            <a:chExt cx="1037234" cy="1037234"/>
          </a:xfrm>
        </p:grpSpPr>
        <p:sp>
          <p:nvSpPr>
            <p:cNvPr name="Freeform 12" id="12"/>
            <p:cNvSpPr/>
            <p:nvPr/>
          </p:nvSpPr>
          <p:spPr>
            <a:xfrm flipH="false" flipV="false" rot="0">
              <a:off x="6350" y="6350"/>
              <a:ext cx="1024509" cy="1024509"/>
            </a:xfrm>
            <a:custGeom>
              <a:avLst/>
              <a:gdLst/>
              <a:ahLst/>
              <a:cxnLst/>
              <a:rect r="r" b="b" t="t" l="l"/>
              <a:pathLst>
                <a:path h="1024509" w="1024509">
                  <a:moveTo>
                    <a:pt x="0" y="512318"/>
                  </a:moveTo>
                  <a:cubicBezTo>
                    <a:pt x="0" y="229362"/>
                    <a:pt x="229362" y="0"/>
                    <a:pt x="512318" y="0"/>
                  </a:cubicBezTo>
                  <a:cubicBezTo>
                    <a:pt x="795274" y="0"/>
                    <a:pt x="1024509" y="229362"/>
                    <a:pt x="1024509" y="512318"/>
                  </a:cubicBezTo>
                  <a:cubicBezTo>
                    <a:pt x="1024509" y="795274"/>
                    <a:pt x="795147" y="1024509"/>
                    <a:pt x="512318" y="1024509"/>
                  </a:cubicBezTo>
                  <a:cubicBezTo>
                    <a:pt x="229489" y="1024509"/>
                    <a:pt x="0" y="795147"/>
                    <a:pt x="0" y="512318"/>
                  </a:cubicBezTo>
                  <a:close/>
                </a:path>
              </a:pathLst>
            </a:custGeom>
            <a:solidFill>
              <a:srgbClr val="626C3B"/>
            </a:solidFill>
          </p:spPr>
        </p:sp>
        <p:sp>
          <p:nvSpPr>
            <p:cNvPr name="Freeform 13" id="13"/>
            <p:cNvSpPr/>
            <p:nvPr/>
          </p:nvSpPr>
          <p:spPr>
            <a:xfrm flipH="false" flipV="false" rot="0">
              <a:off x="0" y="0"/>
              <a:ext cx="1037209" cy="1037336"/>
            </a:xfrm>
            <a:custGeom>
              <a:avLst/>
              <a:gdLst/>
              <a:ahLst/>
              <a:cxnLst/>
              <a:rect r="r" b="b" t="t" l="l"/>
              <a:pathLst>
                <a:path h="1037336" w="1037209">
                  <a:moveTo>
                    <a:pt x="0" y="518668"/>
                  </a:moveTo>
                  <a:cubicBezTo>
                    <a:pt x="0" y="232156"/>
                    <a:pt x="232156" y="0"/>
                    <a:pt x="518668" y="0"/>
                  </a:cubicBezTo>
                  <a:cubicBezTo>
                    <a:pt x="519938" y="0"/>
                    <a:pt x="521081" y="381"/>
                    <a:pt x="522097" y="1016"/>
                  </a:cubicBezTo>
                  <a:lnTo>
                    <a:pt x="518668" y="6350"/>
                  </a:lnTo>
                  <a:lnTo>
                    <a:pt x="518668" y="0"/>
                  </a:lnTo>
                  <a:cubicBezTo>
                    <a:pt x="805053" y="0"/>
                    <a:pt x="1037209" y="232156"/>
                    <a:pt x="1037209" y="518668"/>
                  </a:cubicBezTo>
                  <a:cubicBezTo>
                    <a:pt x="1037209" y="521081"/>
                    <a:pt x="1035812" y="523240"/>
                    <a:pt x="1033653" y="524383"/>
                  </a:cubicBezTo>
                  <a:lnTo>
                    <a:pt x="1030859" y="518668"/>
                  </a:lnTo>
                  <a:lnTo>
                    <a:pt x="1037209" y="518668"/>
                  </a:lnTo>
                  <a:cubicBezTo>
                    <a:pt x="1037209" y="805053"/>
                    <a:pt x="805053" y="1037336"/>
                    <a:pt x="518541" y="1037336"/>
                  </a:cubicBezTo>
                  <a:lnTo>
                    <a:pt x="518541" y="1030986"/>
                  </a:lnTo>
                  <a:lnTo>
                    <a:pt x="518541" y="1037336"/>
                  </a:lnTo>
                  <a:cubicBezTo>
                    <a:pt x="232156" y="1037209"/>
                    <a:pt x="0" y="805053"/>
                    <a:pt x="0" y="518668"/>
                  </a:cubicBezTo>
                  <a:cubicBezTo>
                    <a:pt x="0" y="515112"/>
                    <a:pt x="2794" y="512318"/>
                    <a:pt x="6350" y="512318"/>
                  </a:cubicBezTo>
                  <a:lnTo>
                    <a:pt x="6350" y="518668"/>
                  </a:lnTo>
                  <a:lnTo>
                    <a:pt x="0" y="518668"/>
                  </a:lnTo>
                  <a:moveTo>
                    <a:pt x="12700" y="518668"/>
                  </a:moveTo>
                  <a:cubicBezTo>
                    <a:pt x="12700" y="522224"/>
                    <a:pt x="9906" y="525018"/>
                    <a:pt x="6350" y="525018"/>
                  </a:cubicBezTo>
                  <a:lnTo>
                    <a:pt x="6350" y="518668"/>
                  </a:lnTo>
                  <a:lnTo>
                    <a:pt x="12700" y="518668"/>
                  </a:lnTo>
                  <a:cubicBezTo>
                    <a:pt x="12700" y="798068"/>
                    <a:pt x="239268" y="1024636"/>
                    <a:pt x="518668" y="1024636"/>
                  </a:cubicBezTo>
                  <a:cubicBezTo>
                    <a:pt x="798068" y="1024636"/>
                    <a:pt x="1024509" y="798068"/>
                    <a:pt x="1024509" y="518668"/>
                  </a:cubicBezTo>
                  <a:cubicBezTo>
                    <a:pt x="1024509" y="516255"/>
                    <a:pt x="1025906" y="514096"/>
                    <a:pt x="1028065" y="512953"/>
                  </a:cubicBezTo>
                  <a:lnTo>
                    <a:pt x="1030859" y="518668"/>
                  </a:lnTo>
                  <a:lnTo>
                    <a:pt x="1024509" y="518668"/>
                  </a:lnTo>
                  <a:cubicBezTo>
                    <a:pt x="1024509" y="239268"/>
                    <a:pt x="798068" y="12700"/>
                    <a:pt x="518668" y="12700"/>
                  </a:cubicBezTo>
                  <a:cubicBezTo>
                    <a:pt x="517398" y="12700"/>
                    <a:pt x="516255" y="12319"/>
                    <a:pt x="515239" y="11684"/>
                  </a:cubicBezTo>
                  <a:lnTo>
                    <a:pt x="518668" y="6350"/>
                  </a:lnTo>
                  <a:lnTo>
                    <a:pt x="518668" y="12700"/>
                  </a:lnTo>
                  <a:cubicBezTo>
                    <a:pt x="239268" y="12700"/>
                    <a:pt x="12700" y="239268"/>
                    <a:pt x="12700" y="518668"/>
                  </a:cubicBezTo>
                  <a:close/>
                </a:path>
              </a:pathLst>
            </a:custGeom>
            <a:solidFill>
              <a:srgbClr val="7B8554"/>
            </a:solidFill>
          </p:spPr>
        </p:sp>
      </p:grpSp>
      <p:sp>
        <p:nvSpPr>
          <p:cNvPr name="Freeform 14" id="14" descr="preencoded.png"/>
          <p:cNvSpPr/>
          <p:nvPr/>
        </p:nvSpPr>
        <p:spPr>
          <a:xfrm flipH="false" flipV="false" rot="0">
            <a:off x="1088527" y="3677764"/>
            <a:ext cx="384124" cy="384124"/>
          </a:xfrm>
          <a:custGeom>
            <a:avLst/>
            <a:gdLst/>
            <a:ahLst/>
            <a:cxnLst/>
            <a:rect r="r" b="b" t="t" l="l"/>
            <a:pathLst>
              <a:path h="384124" w="384124">
                <a:moveTo>
                  <a:pt x="0" y="0"/>
                </a:moveTo>
                <a:lnTo>
                  <a:pt x="384124" y="0"/>
                </a:lnTo>
                <a:lnTo>
                  <a:pt x="384124" y="384125"/>
                </a:lnTo>
                <a:lnTo>
                  <a:pt x="0" y="3841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52525" y="4481665"/>
            <a:ext cx="3424533" cy="428625"/>
          </a:xfrm>
          <a:prstGeom prst="rect">
            <a:avLst/>
          </a:prstGeom>
        </p:spPr>
        <p:txBody>
          <a:bodyPr anchor="t" rtlCol="false" tIns="0" lIns="0" bIns="0" rIns="0">
            <a:spAutoFit/>
          </a:bodyPr>
          <a:lstStyle/>
          <a:p>
            <a:pPr algn="l">
              <a:lnSpc>
                <a:spcPts val="3124"/>
              </a:lnSpc>
            </a:pPr>
            <a:r>
              <a:rPr lang="en-US" sz="2499" b="true">
                <a:solidFill>
                  <a:srgbClr val="403011"/>
                </a:solidFill>
                <a:latin typeface="Arimo Bold"/>
                <a:ea typeface="Arimo Bold"/>
                <a:cs typeface="Arimo Bold"/>
                <a:sym typeface="Arimo Bold"/>
              </a:rPr>
              <a:t>Geographic Expansion</a:t>
            </a:r>
          </a:p>
        </p:txBody>
      </p:sp>
      <p:sp>
        <p:nvSpPr>
          <p:cNvPr name="TextBox 16" id="16"/>
          <p:cNvSpPr txBox="true"/>
          <p:nvPr/>
        </p:nvSpPr>
        <p:spPr>
          <a:xfrm rot="0">
            <a:off x="1152525" y="4987681"/>
            <a:ext cx="4815335" cy="1976438"/>
          </a:xfrm>
          <a:prstGeom prst="rect">
            <a:avLst/>
          </a:prstGeom>
        </p:spPr>
        <p:txBody>
          <a:bodyPr anchor="t" rtlCol="false" tIns="0" lIns="0" bIns="0" rIns="0">
            <a:spAutoFit/>
          </a:bodyPr>
          <a:lstStyle/>
          <a:p>
            <a:pPr algn="l">
              <a:lnSpc>
                <a:spcPts val="3187"/>
              </a:lnSpc>
            </a:pPr>
            <a:r>
              <a:rPr lang="en-US" sz="2000">
                <a:solidFill>
                  <a:srgbClr val="403011"/>
                </a:solidFill>
                <a:latin typeface="Arimo"/>
                <a:ea typeface="Arimo"/>
                <a:cs typeface="Arimo"/>
                <a:sym typeface="Arimo"/>
              </a:rPr>
              <a:t>Launch operations in identified underperforming regions with high demographic potential. Prioritise tier-2 cities with improved logistics infrastructure. Expected impact: 4% revenue increase.</a:t>
            </a:r>
          </a:p>
        </p:txBody>
      </p:sp>
      <p:grpSp>
        <p:nvGrpSpPr>
          <p:cNvPr name="Group 17" id="17"/>
          <p:cNvGrpSpPr/>
          <p:nvPr/>
        </p:nvGrpSpPr>
        <p:grpSpPr>
          <a:xfrm rot="0">
            <a:off x="6859486" y="3352800"/>
            <a:ext cx="4952848" cy="265662"/>
            <a:chOff x="0" y="0"/>
            <a:chExt cx="6603797" cy="354216"/>
          </a:xfrm>
        </p:grpSpPr>
        <p:sp>
          <p:nvSpPr>
            <p:cNvPr name="Freeform 18" id="18"/>
            <p:cNvSpPr/>
            <p:nvPr/>
          </p:nvSpPr>
          <p:spPr>
            <a:xfrm flipH="false" flipV="false" rot="0">
              <a:off x="6350" y="6350"/>
              <a:ext cx="6591173" cy="341630"/>
            </a:xfrm>
            <a:custGeom>
              <a:avLst/>
              <a:gdLst/>
              <a:ahLst/>
              <a:cxnLst/>
              <a:rect r="r" b="b" t="t" l="l"/>
              <a:pathLst>
                <a:path h="341630" w="6591173">
                  <a:moveTo>
                    <a:pt x="0" y="170815"/>
                  </a:moveTo>
                  <a:cubicBezTo>
                    <a:pt x="0" y="76454"/>
                    <a:pt x="79121" y="0"/>
                    <a:pt x="176784" y="0"/>
                  </a:cubicBezTo>
                  <a:lnTo>
                    <a:pt x="6414389" y="0"/>
                  </a:lnTo>
                  <a:cubicBezTo>
                    <a:pt x="6512052" y="0"/>
                    <a:pt x="6591173" y="76454"/>
                    <a:pt x="6591173" y="170815"/>
                  </a:cubicBezTo>
                  <a:cubicBezTo>
                    <a:pt x="6591173" y="265176"/>
                    <a:pt x="6512052" y="341630"/>
                    <a:pt x="6414389" y="341630"/>
                  </a:cubicBezTo>
                  <a:lnTo>
                    <a:pt x="176784" y="341630"/>
                  </a:lnTo>
                  <a:cubicBezTo>
                    <a:pt x="79121" y="341503"/>
                    <a:pt x="0" y="265049"/>
                    <a:pt x="0" y="170815"/>
                  </a:cubicBezTo>
                  <a:close/>
                </a:path>
              </a:pathLst>
            </a:custGeom>
            <a:solidFill>
              <a:srgbClr val="83792E"/>
            </a:solidFill>
          </p:spPr>
        </p:sp>
        <p:sp>
          <p:nvSpPr>
            <p:cNvPr name="Freeform 19" id="19"/>
            <p:cNvSpPr/>
            <p:nvPr/>
          </p:nvSpPr>
          <p:spPr>
            <a:xfrm flipH="false" flipV="false" rot="0">
              <a:off x="0" y="0"/>
              <a:ext cx="6603873" cy="354330"/>
            </a:xfrm>
            <a:custGeom>
              <a:avLst/>
              <a:gdLst/>
              <a:ahLst/>
              <a:cxnLst/>
              <a:rect r="r" b="b" t="t" l="l"/>
              <a:pathLst>
                <a:path h="354330" w="6603873">
                  <a:moveTo>
                    <a:pt x="0" y="177165"/>
                  </a:moveTo>
                  <a:cubicBezTo>
                    <a:pt x="0" y="79121"/>
                    <a:pt x="82169" y="0"/>
                    <a:pt x="183134" y="0"/>
                  </a:cubicBezTo>
                  <a:lnTo>
                    <a:pt x="6420739" y="0"/>
                  </a:lnTo>
                  <a:lnTo>
                    <a:pt x="6420739" y="6350"/>
                  </a:lnTo>
                  <a:lnTo>
                    <a:pt x="6420739" y="0"/>
                  </a:lnTo>
                  <a:cubicBezTo>
                    <a:pt x="6521704" y="0"/>
                    <a:pt x="6603873" y="79121"/>
                    <a:pt x="6603873" y="177165"/>
                  </a:cubicBezTo>
                  <a:lnTo>
                    <a:pt x="6597523" y="177165"/>
                  </a:lnTo>
                  <a:lnTo>
                    <a:pt x="6603873" y="177165"/>
                  </a:lnTo>
                  <a:lnTo>
                    <a:pt x="6597523" y="177165"/>
                  </a:lnTo>
                  <a:lnTo>
                    <a:pt x="6603873" y="177165"/>
                  </a:lnTo>
                  <a:cubicBezTo>
                    <a:pt x="6603873" y="275209"/>
                    <a:pt x="6521704" y="354330"/>
                    <a:pt x="6420739" y="354330"/>
                  </a:cubicBezTo>
                  <a:lnTo>
                    <a:pt x="6420739" y="347980"/>
                  </a:lnTo>
                  <a:lnTo>
                    <a:pt x="6420739" y="354330"/>
                  </a:lnTo>
                  <a:lnTo>
                    <a:pt x="183134" y="354330"/>
                  </a:lnTo>
                  <a:lnTo>
                    <a:pt x="183134" y="347980"/>
                  </a:lnTo>
                  <a:lnTo>
                    <a:pt x="183134" y="354330"/>
                  </a:lnTo>
                  <a:cubicBezTo>
                    <a:pt x="82169" y="354203"/>
                    <a:pt x="0" y="275082"/>
                    <a:pt x="0" y="177165"/>
                  </a:cubicBezTo>
                  <a:lnTo>
                    <a:pt x="6350" y="177165"/>
                  </a:lnTo>
                  <a:lnTo>
                    <a:pt x="0" y="177165"/>
                  </a:lnTo>
                  <a:moveTo>
                    <a:pt x="12700" y="177165"/>
                  </a:moveTo>
                  <a:lnTo>
                    <a:pt x="6350" y="177165"/>
                  </a:lnTo>
                  <a:lnTo>
                    <a:pt x="12700" y="177165"/>
                  </a:lnTo>
                  <a:cubicBezTo>
                    <a:pt x="12700" y="267716"/>
                    <a:pt x="88773" y="341630"/>
                    <a:pt x="183134" y="341630"/>
                  </a:cubicBezTo>
                  <a:lnTo>
                    <a:pt x="6420739" y="341630"/>
                  </a:lnTo>
                  <a:cubicBezTo>
                    <a:pt x="6515100" y="341630"/>
                    <a:pt x="6591173" y="267843"/>
                    <a:pt x="6591173" y="177165"/>
                  </a:cubicBezTo>
                  <a:cubicBezTo>
                    <a:pt x="6591173" y="86487"/>
                    <a:pt x="6514973" y="12700"/>
                    <a:pt x="6420739" y="12700"/>
                  </a:cubicBezTo>
                  <a:lnTo>
                    <a:pt x="183134" y="12700"/>
                  </a:lnTo>
                  <a:lnTo>
                    <a:pt x="183134" y="6350"/>
                  </a:lnTo>
                  <a:lnTo>
                    <a:pt x="183134" y="12700"/>
                  </a:lnTo>
                  <a:cubicBezTo>
                    <a:pt x="88773" y="12700"/>
                    <a:pt x="12700" y="86487"/>
                    <a:pt x="12700" y="177165"/>
                  </a:cubicBezTo>
                  <a:close/>
                </a:path>
              </a:pathLst>
            </a:custGeom>
            <a:solidFill>
              <a:srgbClr val="9C9247"/>
            </a:solidFill>
          </p:spPr>
        </p:sp>
      </p:grpSp>
      <p:grpSp>
        <p:nvGrpSpPr>
          <p:cNvPr name="Group 20" id="20"/>
          <p:cNvGrpSpPr/>
          <p:nvPr/>
        </p:nvGrpSpPr>
        <p:grpSpPr>
          <a:xfrm rot="0">
            <a:off x="6475362" y="3096597"/>
            <a:ext cx="777926" cy="777926"/>
            <a:chOff x="0" y="0"/>
            <a:chExt cx="1037234" cy="1037234"/>
          </a:xfrm>
        </p:grpSpPr>
        <p:sp>
          <p:nvSpPr>
            <p:cNvPr name="Freeform 21" id="21"/>
            <p:cNvSpPr/>
            <p:nvPr/>
          </p:nvSpPr>
          <p:spPr>
            <a:xfrm flipH="false" flipV="false" rot="0">
              <a:off x="6350" y="6350"/>
              <a:ext cx="1024509" cy="1024509"/>
            </a:xfrm>
            <a:custGeom>
              <a:avLst/>
              <a:gdLst/>
              <a:ahLst/>
              <a:cxnLst/>
              <a:rect r="r" b="b" t="t" l="l"/>
              <a:pathLst>
                <a:path h="1024509" w="1024509">
                  <a:moveTo>
                    <a:pt x="0" y="512318"/>
                  </a:moveTo>
                  <a:cubicBezTo>
                    <a:pt x="0" y="229362"/>
                    <a:pt x="229362" y="0"/>
                    <a:pt x="512318" y="0"/>
                  </a:cubicBezTo>
                  <a:cubicBezTo>
                    <a:pt x="795274" y="0"/>
                    <a:pt x="1024509" y="229362"/>
                    <a:pt x="1024509" y="512318"/>
                  </a:cubicBezTo>
                  <a:cubicBezTo>
                    <a:pt x="1024509" y="795274"/>
                    <a:pt x="795147" y="1024509"/>
                    <a:pt x="512318" y="1024509"/>
                  </a:cubicBezTo>
                  <a:cubicBezTo>
                    <a:pt x="229489" y="1024509"/>
                    <a:pt x="0" y="795147"/>
                    <a:pt x="0" y="512318"/>
                  </a:cubicBezTo>
                  <a:close/>
                </a:path>
              </a:pathLst>
            </a:custGeom>
            <a:solidFill>
              <a:srgbClr val="83792E"/>
            </a:solidFill>
          </p:spPr>
        </p:sp>
        <p:sp>
          <p:nvSpPr>
            <p:cNvPr name="Freeform 22" id="22"/>
            <p:cNvSpPr/>
            <p:nvPr/>
          </p:nvSpPr>
          <p:spPr>
            <a:xfrm flipH="false" flipV="false" rot="0">
              <a:off x="0" y="0"/>
              <a:ext cx="1037209" cy="1037336"/>
            </a:xfrm>
            <a:custGeom>
              <a:avLst/>
              <a:gdLst/>
              <a:ahLst/>
              <a:cxnLst/>
              <a:rect r="r" b="b" t="t" l="l"/>
              <a:pathLst>
                <a:path h="1037336" w="1037209">
                  <a:moveTo>
                    <a:pt x="0" y="518668"/>
                  </a:moveTo>
                  <a:cubicBezTo>
                    <a:pt x="0" y="232156"/>
                    <a:pt x="232156" y="0"/>
                    <a:pt x="518668" y="0"/>
                  </a:cubicBezTo>
                  <a:cubicBezTo>
                    <a:pt x="519938" y="0"/>
                    <a:pt x="521081" y="381"/>
                    <a:pt x="522097" y="1016"/>
                  </a:cubicBezTo>
                  <a:lnTo>
                    <a:pt x="518668" y="6350"/>
                  </a:lnTo>
                  <a:lnTo>
                    <a:pt x="518668" y="0"/>
                  </a:lnTo>
                  <a:cubicBezTo>
                    <a:pt x="805053" y="0"/>
                    <a:pt x="1037209" y="232156"/>
                    <a:pt x="1037209" y="518668"/>
                  </a:cubicBezTo>
                  <a:cubicBezTo>
                    <a:pt x="1037209" y="521081"/>
                    <a:pt x="1035812" y="523240"/>
                    <a:pt x="1033653" y="524383"/>
                  </a:cubicBezTo>
                  <a:lnTo>
                    <a:pt x="1030859" y="518668"/>
                  </a:lnTo>
                  <a:lnTo>
                    <a:pt x="1037209" y="518668"/>
                  </a:lnTo>
                  <a:cubicBezTo>
                    <a:pt x="1037209" y="805053"/>
                    <a:pt x="805053" y="1037336"/>
                    <a:pt x="518541" y="1037336"/>
                  </a:cubicBezTo>
                  <a:lnTo>
                    <a:pt x="518541" y="1030986"/>
                  </a:lnTo>
                  <a:lnTo>
                    <a:pt x="518541" y="1037336"/>
                  </a:lnTo>
                  <a:cubicBezTo>
                    <a:pt x="232156" y="1037209"/>
                    <a:pt x="0" y="805053"/>
                    <a:pt x="0" y="518668"/>
                  </a:cubicBezTo>
                  <a:cubicBezTo>
                    <a:pt x="0" y="515112"/>
                    <a:pt x="2794" y="512318"/>
                    <a:pt x="6350" y="512318"/>
                  </a:cubicBezTo>
                  <a:lnTo>
                    <a:pt x="6350" y="518668"/>
                  </a:lnTo>
                  <a:lnTo>
                    <a:pt x="0" y="518668"/>
                  </a:lnTo>
                  <a:moveTo>
                    <a:pt x="12700" y="518668"/>
                  </a:moveTo>
                  <a:cubicBezTo>
                    <a:pt x="12700" y="522224"/>
                    <a:pt x="9906" y="525018"/>
                    <a:pt x="6350" y="525018"/>
                  </a:cubicBezTo>
                  <a:lnTo>
                    <a:pt x="6350" y="518668"/>
                  </a:lnTo>
                  <a:lnTo>
                    <a:pt x="12700" y="518668"/>
                  </a:lnTo>
                  <a:cubicBezTo>
                    <a:pt x="12700" y="798068"/>
                    <a:pt x="239268" y="1024636"/>
                    <a:pt x="518668" y="1024636"/>
                  </a:cubicBezTo>
                  <a:cubicBezTo>
                    <a:pt x="798068" y="1024636"/>
                    <a:pt x="1024509" y="798068"/>
                    <a:pt x="1024509" y="518668"/>
                  </a:cubicBezTo>
                  <a:cubicBezTo>
                    <a:pt x="1024509" y="516255"/>
                    <a:pt x="1025906" y="514096"/>
                    <a:pt x="1028065" y="512953"/>
                  </a:cubicBezTo>
                  <a:lnTo>
                    <a:pt x="1030859" y="518668"/>
                  </a:lnTo>
                  <a:lnTo>
                    <a:pt x="1024509" y="518668"/>
                  </a:lnTo>
                  <a:cubicBezTo>
                    <a:pt x="1024509" y="239268"/>
                    <a:pt x="798068" y="12700"/>
                    <a:pt x="518668" y="12700"/>
                  </a:cubicBezTo>
                  <a:cubicBezTo>
                    <a:pt x="517398" y="12700"/>
                    <a:pt x="516255" y="12319"/>
                    <a:pt x="515239" y="11684"/>
                  </a:cubicBezTo>
                  <a:lnTo>
                    <a:pt x="518668" y="6350"/>
                  </a:lnTo>
                  <a:lnTo>
                    <a:pt x="518668" y="12700"/>
                  </a:lnTo>
                  <a:cubicBezTo>
                    <a:pt x="239268" y="12700"/>
                    <a:pt x="12700" y="239268"/>
                    <a:pt x="12700" y="518668"/>
                  </a:cubicBezTo>
                  <a:close/>
                </a:path>
              </a:pathLst>
            </a:custGeom>
            <a:solidFill>
              <a:srgbClr val="9C9247"/>
            </a:solidFill>
          </p:spPr>
        </p:sp>
      </p:grpSp>
      <p:sp>
        <p:nvSpPr>
          <p:cNvPr name="Freeform 23" id="23" descr="preencoded.png"/>
          <p:cNvSpPr/>
          <p:nvPr/>
        </p:nvSpPr>
        <p:spPr>
          <a:xfrm flipH="false" flipV="false" rot="0">
            <a:off x="6672262" y="3293488"/>
            <a:ext cx="384124" cy="384124"/>
          </a:xfrm>
          <a:custGeom>
            <a:avLst/>
            <a:gdLst/>
            <a:ahLst/>
            <a:cxnLst/>
            <a:rect r="r" b="b" t="t" l="l"/>
            <a:pathLst>
              <a:path h="384124" w="384124">
                <a:moveTo>
                  <a:pt x="0" y="0"/>
                </a:moveTo>
                <a:lnTo>
                  <a:pt x="384125" y="0"/>
                </a:lnTo>
                <a:lnTo>
                  <a:pt x="384125" y="384124"/>
                </a:lnTo>
                <a:lnTo>
                  <a:pt x="0" y="384124"/>
                </a:lnTo>
                <a:lnTo>
                  <a:pt x="0" y="0"/>
                </a:lnTo>
                <a:close/>
              </a:path>
            </a:pathLst>
          </a:custGeom>
          <a:blipFill>
            <a:blip r:embed="rId5">
              <a:extLst>
                <a:ext uri="{96DAC541-7B7A-43D3-8B79-37D633B846F1}">
                  <asvg:svgBlip xmlns:asvg="http://schemas.microsoft.com/office/drawing/2016/SVG/main" r:embed="rId6"/>
                </a:ext>
              </a:extLst>
            </a:blip>
            <a:stretch>
              <a:fillRect l="-2439" t="0" r="-2437" b="0"/>
            </a:stretch>
          </a:blipFill>
        </p:spPr>
      </p:sp>
      <p:sp>
        <p:nvSpPr>
          <p:cNvPr name="TextBox 24" id="24"/>
          <p:cNvSpPr txBox="true"/>
          <p:nvPr/>
        </p:nvSpPr>
        <p:spPr>
          <a:xfrm rot="0">
            <a:off x="6736261" y="4097388"/>
            <a:ext cx="4815335" cy="828675"/>
          </a:xfrm>
          <a:prstGeom prst="rect">
            <a:avLst/>
          </a:prstGeom>
        </p:spPr>
        <p:txBody>
          <a:bodyPr anchor="t" rtlCol="false" tIns="0" lIns="0" bIns="0" rIns="0">
            <a:spAutoFit/>
          </a:bodyPr>
          <a:lstStyle/>
          <a:p>
            <a:pPr algn="l">
              <a:lnSpc>
                <a:spcPts val="3124"/>
              </a:lnSpc>
            </a:pPr>
            <a:r>
              <a:rPr lang="en-US" sz="2499" b="true">
                <a:solidFill>
                  <a:srgbClr val="403011"/>
                </a:solidFill>
                <a:latin typeface="Arimo Bold"/>
                <a:ea typeface="Arimo Bold"/>
                <a:cs typeface="Arimo Bold"/>
                <a:sym typeface="Arimo Bold"/>
              </a:rPr>
              <a:t>Customer Experience Enhancement</a:t>
            </a:r>
          </a:p>
        </p:txBody>
      </p:sp>
      <p:sp>
        <p:nvSpPr>
          <p:cNvPr name="TextBox 25" id="25"/>
          <p:cNvSpPr txBox="true"/>
          <p:nvPr/>
        </p:nvSpPr>
        <p:spPr>
          <a:xfrm rot="0">
            <a:off x="6736261" y="5003454"/>
            <a:ext cx="4815335" cy="2534545"/>
          </a:xfrm>
          <a:prstGeom prst="rect">
            <a:avLst/>
          </a:prstGeom>
        </p:spPr>
        <p:txBody>
          <a:bodyPr anchor="t" rtlCol="false" tIns="0" lIns="0" bIns="0" rIns="0">
            <a:spAutoFit/>
          </a:bodyPr>
          <a:lstStyle/>
          <a:p>
            <a:pPr algn="l">
              <a:lnSpc>
                <a:spcPts val="3187"/>
              </a:lnSpc>
            </a:pPr>
            <a:r>
              <a:rPr lang="en-US" sz="2000">
                <a:solidFill>
                  <a:srgbClr val="403011"/>
                </a:solidFill>
                <a:latin typeface="Arimo"/>
                <a:ea typeface="Arimo"/>
                <a:cs typeface="Arimo"/>
                <a:sym typeface="Arimo"/>
              </a:rPr>
              <a:t>Address neutral ratings through packaging improvements and faster complaint resolution. Implement enhanced product descriptions and photography. Expected impact: 3% conversion improvement.</a:t>
            </a:r>
          </a:p>
        </p:txBody>
      </p:sp>
      <p:grpSp>
        <p:nvGrpSpPr>
          <p:cNvPr name="Group 26" id="26"/>
          <p:cNvGrpSpPr/>
          <p:nvPr/>
        </p:nvGrpSpPr>
        <p:grpSpPr>
          <a:xfrm rot="0">
            <a:off x="12443222" y="2968676"/>
            <a:ext cx="4953000" cy="265662"/>
            <a:chOff x="0" y="0"/>
            <a:chExt cx="6604000" cy="354216"/>
          </a:xfrm>
        </p:grpSpPr>
        <p:sp>
          <p:nvSpPr>
            <p:cNvPr name="Freeform 27" id="27"/>
            <p:cNvSpPr/>
            <p:nvPr/>
          </p:nvSpPr>
          <p:spPr>
            <a:xfrm flipH="false" flipV="false" rot="0">
              <a:off x="6350" y="6350"/>
              <a:ext cx="6591300" cy="341630"/>
            </a:xfrm>
            <a:custGeom>
              <a:avLst/>
              <a:gdLst/>
              <a:ahLst/>
              <a:cxnLst/>
              <a:rect r="r" b="b" t="t" l="l"/>
              <a:pathLst>
                <a:path h="341630" w="6591300">
                  <a:moveTo>
                    <a:pt x="0" y="170815"/>
                  </a:moveTo>
                  <a:cubicBezTo>
                    <a:pt x="0" y="76454"/>
                    <a:pt x="79121" y="0"/>
                    <a:pt x="176784" y="0"/>
                  </a:cubicBezTo>
                  <a:lnTo>
                    <a:pt x="6414516" y="0"/>
                  </a:lnTo>
                  <a:cubicBezTo>
                    <a:pt x="6512178" y="0"/>
                    <a:pt x="6591300" y="76454"/>
                    <a:pt x="6591300" y="170815"/>
                  </a:cubicBezTo>
                  <a:cubicBezTo>
                    <a:pt x="6591300" y="265176"/>
                    <a:pt x="6512178" y="341630"/>
                    <a:pt x="6414516" y="341630"/>
                  </a:cubicBezTo>
                  <a:lnTo>
                    <a:pt x="176784" y="341630"/>
                  </a:lnTo>
                  <a:cubicBezTo>
                    <a:pt x="79121" y="341503"/>
                    <a:pt x="0" y="265049"/>
                    <a:pt x="0" y="170815"/>
                  </a:cubicBezTo>
                  <a:close/>
                </a:path>
              </a:pathLst>
            </a:custGeom>
            <a:solidFill>
              <a:srgbClr val="E8AF3B"/>
            </a:solidFill>
          </p:spPr>
        </p:sp>
        <p:sp>
          <p:nvSpPr>
            <p:cNvPr name="Freeform 28" id="28"/>
            <p:cNvSpPr/>
            <p:nvPr/>
          </p:nvSpPr>
          <p:spPr>
            <a:xfrm flipH="false" flipV="false" rot="0">
              <a:off x="0" y="0"/>
              <a:ext cx="6604000" cy="354330"/>
            </a:xfrm>
            <a:custGeom>
              <a:avLst/>
              <a:gdLst/>
              <a:ahLst/>
              <a:cxnLst/>
              <a:rect r="r" b="b" t="t" l="l"/>
              <a:pathLst>
                <a:path h="354330" w="6604000">
                  <a:moveTo>
                    <a:pt x="0" y="177165"/>
                  </a:moveTo>
                  <a:cubicBezTo>
                    <a:pt x="0" y="79121"/>
                    <a:pt x="82169" y="0"/>
                    <a:pt x="183134" y="0"/>
                  </a:cubicBezTo>
                  <a:lnTo>
                    <a:pt x="6420866" y="0"/>
                  </a:lnTo>
                  <a:lnTo>
                    <a:pt x="6420866" y="6350"/>
                  </a:lnTo>
                  <a:lnTo>
                    <a:pt x="6420866" y="0"/>
                  </a:lnTo>
                  <a:cubicBezTo>
                    <a:pt x="6521831" y="0"/>
                    <a:pt x="6604000" y="79121"/>
                    <a:pt x="6604000" y="177165"/>
                  </a:cubicBezTo>
                  <a:lnTo>
                    <a:pt x="6597650" y="177165"/>
                  </a:lnTo>
                  <a:lnTo>
                    <a:pt x="6604000" y="177165"/>
                  </a:lnTo>
                  <a:lnTo>
                    <a:pt x="6597650" y="177165"/>
                  </a:lnTo>
                  <a:lnTo>
                    <a:pt x="6604000" y="177165"/>
                  </a:lnTo>
                  <a:cubicBezTo>
                    <a:pt x="6604000" y="275209"/>
                    <a:pt x="6521831" y="354330"/>
                    <a:pt x="6420866" y="354330"/>
                  </a:cubicBezTo>
                  <a:lnTo>
                    <a:pt x="6420866" y="347980"/>
                  </a:lnTo>
                  <a:lnTo>
                    <a:pt x="6420866" y="354330"/>
                  </a:lnTo>
                  <a:lnTo>
                    <a:pt x="183134" y="354330"/>
                  </a:lnTo>
                  <a:lnTo>
                    <a:pt x="183134" y="347980"/>
                  </a:lnTo>
                  <a:lnTo>
                    <a:pt x="183134" y="354330"/>
                  </a:lnTo>
                  <a:cubicBezTo>
                    <a:pt x="82169" y="354203"/>
                    <a:pt x="0" y="275082"/>
                    <a:pt x="0" y="177165"/>
                  </a:cubicBezTo>
                  <a:lnTo>
                    <a:pt x="6350" y="177165"/>
                  </a:lnTo>
                  <a:lnTo>
                    <a:pt x="0" y="177165"/>
                  </a:lnTo>
                  <a:moveTo>
                    <a:pt x="12700" y="177165"/>
                  </a:moveTo>
                  <a:lnTo>
                    <a:pt x="6350" y="177165"/>
                  </a:lnTo>
                  <a:lnTo>
                    <a:pt x="12700" y="177165"/>
                  </a:lnTo>
                  <a:cubicBezTo>
                    <a:pt x="12700" y="267716"/>
                    <a:pt x="88773" y="341630"/>
                    <a:pt x="183134" y="341630"/>
                  </a:cubicBezTo>
                  <a:lnTo>
                    <a:pt x="6420866" y="341630"/>
                  </a:lnTo>
                  <a:cubicBezTo>
                    <a:pt x="6515227" y="341630"/>
                    <a:pt x="6591300" y="267843"/>
                    <a:pt x="6591300" y="177165"/>
                  </a:cubicBezTo>
                  <a:cubicBezTo>
                    <a:pt x="6591300" y="86487"/>
                    <a:pt x="6515227" y="12700"/>
                    <a:pt x="6420866" y="12700"/>
                  </a:cubicBezTo>
                  <a:lnTo>
                    <a:pt x="183134" y="12700"/>
                  </a:lnTo>
                  <a:lnTo>
                    <a:pt x="183134" y="6350"/>
                  </a:lnTo>
                  <a:lnTo>
                    <a:pt x="183134" y="12700"/>
                  </a:lnTo>
                  <a:cubicBezTo>
                    <a:pt x="88773" y="12700"/>
                    <a:pt x="12700" y="86487"/>
                    <a:pt x="12700" y="177165"/>
                  </a:cubicBezTo>
                  <a:close/>
                </a:path>
              </a:pathLst>
            </a:custGeom>
            <a:solidFill>
              <a:srgbClr val="CE9521"/>
            </a:solidFill>
          </p:spPr>
        </p:sp>
      </p:grpSp>
      <p:grpSp>
        <p:nvGrpSpPr>
          <p:cNvPr name="Group 29" id="29"/>
          <p:cNvGrpSpPr/>
          <p:nvPr/>
        </p:nvGrpSpPr>
        <p:grpSpPr>
          <a:xfrm rot="0">
            <a:off x="12059098" y="2712463"/>
            <a:ext cx="777926" cy="777926"/>
            <a:chOff x="0" y="0"/>
            <a:chExt cx="1037234" cy="1037234"/>
          </a:xfrm>
        </p:grpSpPr>
        <p:sp>
          <p:nvSpPr>
            <p:cNvPr name="Freeform 30" id="30"/>
            <p:cNvSpPr/>
            <p:nvPr/>
          </p:nvSpPr>
          <p:spPr>
            <a:xfrm flipH="false" flipV="false" rot="0">
              <a:off x="6350" y="6350"/>
              <a:ext cx="1024509" cy="1024509"/>
            </a:xfrm>
            <a:custGeom>
              <a:avLst/>
              <a:gdLst/>
              <a:ahLst/>
              <a:cxnLst/>
              <a:rect r="r" b="b" t="t" l="l"/>
              <a:pathLst>
                <a:path h="1024509" w="1024509">
                  <a:moveTo>
                    <a:pt x="0" y="512318"/>
                  </a:moveTo>
                  <a:cubicBezTo>
                    <a:pt x="0" y="229362"/>
                    <a:pt x="229362" y="0"/>
                    <a:pt x="512318" y="0"/>
                  </a:cubicBezTo>
                  <a:cubicBezTo>
                    <a:pt x="795274" y="0"/>
                    <a:pt x="1024509" y="229362"/>
                    <a:pt x="1024509" y="512318"/>
                  </a:cubicBezTo>
                  <a:cubicBezTo>
                    <a:pt x="1024509" y="795274"/>
                    <a:pt x="795147" y="1024509"/>
                    <a:pt x="512318" y="1024509"/>
                  </a:cubicBezTo>
                  <a:cubicBezTo>
                    <a:pt x="229489" y="1024509"/>
                    <a:pt x="0" y="795147"/>
                    <a:pt x="0" y="512318"/>
                  </a:cubicBezTo>
                  <a:close/>
                </a:path>
              </a:pathLst>
            </a:custGeom>
            <a:solidFill>
              <a:srgbClr val="E8AF3B"/>
            </a:solidFill>
          </p:spPr>
        </p:sp>
        <p:sp>
          <p:nvSpPr>
            <p:cNvPr name="Freeform 31" id="31"/>
            <p:cNvSpPr/>
            <p:nvPr/>
          </p:nvSpPr>
          <p:spPr>
            <a:xfrm flipH="false" flipV="false" rot="0">
              <a:off x="0" y="0"/>
              <a:ext cx="1037209" cy="1037336"/>
            </a:xfrm>
            <a:custGeom>
              <a:avLst/>
              <a:gdLst/>
              <a:ahLst/>
              <a:cxnLst/>
              <a:rect r="r" b="b" t="t" l="l"/>
              <a:pathLst>
                <a:path h="1037336" w="1037209">
                  <a:moveTo>
                    <a:pt x="0" y="518668"/>
                  </a:moveTo>
                  <a:cubicBezTo>
                    <a:pt x="0" y="232156"/>
                    <a:pt x="232156" y="0"/>
                    <a:pt x="518668" y="0"/>
                  </a:cubicBezTo>
                  <a:cubicBezTo>
                    <a:pt x="519938" y="0"/>
                    <a:pt x="521081" y="381"/>
                    <a:pt x="522097" y="1016"/>
                  </a:cubicBezTo>
                  <a:lnTo>
                    <a:pt x="518668" y="6350"/>
                  </a:lnTo>
                  <a:lnTo>
                    <a:pt x="518668" y="0"/>
                  </a:lnTo>
                  <a:cubicBezTo>
                    <a:pt x="805053" y="0"/>
                    <a:pt x="1037209" y="232156"/>
                    <a:pt x="1037209" y="518668"/>
                  </a:cubicBezTo>
                  <a:cubicBezTo>
                    <a:pt x="1037209" y="521081"/>
                    <a:pt x="1035812" y="523240"/>
                    <a:pt x="1033653" y="524383"/>
                  </a:cubicBezTo>
                  <a:lnTo>
                    <a:pt x="1030859" y="518668"/>
                  </a:lnTo>
                  <a:lnTo>
                    <a:pt x="1037209" y="518668"/>
                  </a:lnTo>
                  <a:cubicBezTo>
                    <a:pt x="1037209" y="805053"/>
                    <a:pt x="805053" y="1037336"/>
                    <a:pt x="518541" y="1037336"/>
                  </a:cubicBezTo>
                  <a:lnTo>
                    <a:pt x="518541" y="1030986"/>
                  </a:lnTo>
                  <a:lnTo>
                    <a:pt x="518541" y="1037336"/>
                  </a:lnTo>
                  <a:cubicBezTo>
                    <a:pt x="232156" y="1037209"/>
                    <a:pt x="0" y="805053"/>
                    <a:pt x="0" y="518668"/>
                  </a:cubicBezTo>
                  <a:cubicBezTo>
                    <a:pt x="0" y="515112"/>
                    <a:pt x="2794" y="512318"/>
                    <a:pt x="6350" y="512318"/>
                  </a:cubicBezTo>
                  <a:lnTo>
                    <a:pt x="6350" y="518668"/>
                  </a:lnTo>
                  <a:lnTo>
                    <a:pt x="0" y="518668"/>
                  </a:lnTo>
                  <a:moveTo>
                    <a:pt x="12700" y="518668"/>
                  </a:moveTo>
                  <a:cubicBezTo>
                    <a:pt x="12700" y="522224"/>
                    <a:pt x="9906" y="525018"/>
                    <a:pt x="6350" y="525018"/>
                  </a:cubicBezTo>
                  <a:lnTo>
                    <a:pt x="6350" y="518668"/>
                  </a:lnTo>
                  <a:lnTo>
                    <a:pt x="12700" y="518668"/>
                  </a:lnTo>
                  <a:cubicBezTo>
                    <a:pt x="12700" y="798068"/>
                    <a:pt x="239268" y="1024636"/>
                    <a:pt x="518668" y="1024636"/>
                  </a:cubicBezTo>
                  <a:cubicBezTo>
                    <a:pt x="798068" y="1024636"/>
                    <a:pt x="1024509" y="798068"/>
                    <a:pt x="1024509" y="518668"/>
                  </a:cubicBezTo>
                  <a:cubicBezTo>
                    <a:pt x="1024509" y="516255"/>
                    <a:pt x="1025906" y="514096"/>
                    <a:pt x="1028065" y="512953"/>
                  </a:cubicBezTo>
                  <a:lnTo>
                    <a:pt x="1030859" y="518668"/>
                  </a:lnTo>
                  <a:lnTo>
                    <a:pt x="1024509" y="518668"/>
                  </a:lnTo>
                  <a:cubicBezTo>
                    <a:pt x="1024509" y="239268"/>
                    <a:pt x="798068" y="12700"/>
                    <a:pt x="518668" y="12700"/>
                  </a:cubicBezTo>
                  <a:cubicBezTo>
                    <a:pt x="517398" y="12700"/>
                    <a:pt x="516255" y="12319"/>
                    <a:pt x="515239" y="11684"/>
                  </a:cubicBezTo>
                  <a:lnTo>
                    <a:pt x="518668" y="6350"/>
                  </a:lnTo>
                  <a:lnTo>
                    <a:pt x="518668" y="12700"/>
                  </a:lnTo>
                  <a:cubicBezTo>
                    <a:pt x="239268" y="12700"/>
                    <a:pt x="12700" y="239268"/>
                    <a:pt x="12700" y="518668"/>
                  </a:cubicBezTo>
                  <a:close/>
                </a:path>
              </a:pathLst>
            </a:custGeom>
            <a:solidFill>
              <a:srgbClr val="CE9521"/>
            </a:solidFill>
          </p:spPr>
        </p:sp>
      </p:grpSp>
      <p:sp>
        <p:nvSpPr>
          <p:cNvPr name="Freeform 32" id="32" descr="preencoded.png"/>
          <p:cNvSpPr/>
          <p:nvPr/>
        </p:nvSpPr>
        <p:spPr>
          <a:xfrm flipH="false" flipV="false" rot="0">
            <a:off x="12255998" y="2909364"/>
            <a:ext cx="384124" cy="384124"/>
          </a:xfrm>
          <a:custGeom>
            <a:avLst/>
            <a:gdLst/>
            <a:ahLst/>
            <a:cxnLst/>
            <a:rect r="r" b="b" t="t" l="l"/>
            <a:pathLst>
              <a:path h="384124" w="384124">
                <a:moveTo>
                  <a:pt x="0" y="0"/>
                </a:moveTo>
                <a:lnTo>
                  <a:pt x="384125" y="0"/>
                </a:lnTo>
                <a:lnTo>
                  <a:pt x="384125" y="384124"/>
                </a:lnTo>
                <a:lnTo>
                  <a:pt x="0" y="3841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3" id="33"/>
          <p:cNvSpPr txBox="true"/>
          <p:nvPr/>
        </p:nvSpPr>
        <p:spPr>
          <a:xfrm rot="0">
            <a:off x="12319997" y="3713264"/>
            <a:ext cx="4668888" cy="428625"/>
          </a:xfrm>
          <a:prstGeom prst="rect">
            <a:avLst/>
          </a:prstGeom>
        </p:spPr>
        <p:txBody>
          <a:bodyPr anchor="t" rtlCol="false" tIns="0" lIns="0" bIns="0" rIns="0">
            <a:spAutoFit/>
          </a:bodyPr>
          <a:lstStyle/>
          <a:p>
            <a:pPr algn="l">
              <a:lnSpc>
                <a:spcPts val="3124"/>
              </a:lnSpc>
            </a:pPr>
            <a:r>
              <a:rPr lang="en-US" sz="2499" b="true">
                <a:solidFill>
                  <a:srgbClr val="403011"/>
                </a:solidFill>
                <a:latin typeface="Arimo Bold"/>
                <a:ea typeface="Arimo Bold"/>
                <a:cs typeface="Arimo Bold"/>
                <a:sym typeface="Arimo Bold"/>
              </a:rPr>
              <a:t>Product Portfolio Optimisation</a:t>
            </a:r>
          </a:p>
        </p:txBody>
      </p:sp>
      <p:sp>
        <p:nvSpPr>
          <p:cNvPr name="TextBox 34" id="34"/>
          <p:cNvSpPr txBox="true"/>
          <p:nvPr/>
        </p:nvSpPr>
        <p:spPr>
          <a:xfrm rot="0">
            <a:off x="12319997" y="4219280"/>
            <a:ext cx="4815478" cy="2534545"/>
          </a:xfrm>
          <a:prstGeom prst="rect">
            <a:avLst/>
          </a:prstGeom>
        </p:spPr>
        <p:txBody>
          <a:bodyPr anchor="t" rtlCol="false" tIns="0" lIns="0" bIns="0" rIns="0">
            <a:spAutoFit/>
          </a:bodyPr>
          <a:lstStyle/>
          <a:p>
            <a:pPr algn="l">
              <a:lnSpc>
                <a:spcPts val="3187"/>
              </a:lnSpc>
            </a:pPr>
            <a:r>
              <a:rPr lang="en-US" sz="2000">
                <a:solidFill>
                  <a:srgbClr val="403011"/>
                </a:solidFill>
                <a:latin typeface="Arimo"/>
                <a:ea typeface="Arimo"/>
                <a:cs typeface="Arimo"/>
                <a:sym typeface="Arimo"/>
              </a:rPr>
              <a:t>Expand variants of top 5 products and introduce complementary items. Leverage successful brand equity whilst testing new categories in strong markets. Expected impact: 3% revenue growth.</a:t>
            </a:r>
          </a:p>
        </p:txBody>
      </p:sp>
      <p:sp>
        <p:nvSpPr>
          <p:cNvPr name="TextBox 35" id="35"/>
          <p:cNvSpPr txBox="true"/>
          <p:nvPr/>
        </p:nvSpPr>
        <p:spPr>
          <a:xfrm rot="0">
            <a:off x="4926541" y="8566699"/>
            <a:ext cx="7516681" cy="806450"/>
          </a:xfrm>
          <a:prstGeom prst="rect">
            <a:avLst/>
          </a:prstGeom>
        </p:spPr>
        <p:txBody>
          <a:bodyPr anchor="t" rtlCol="false" tIns="0" lIns="0" bIns="0" rIns="0">
            <a:spAutoFit/>
          </a:bodyPr>
          <a:lstStyle/>
          <a:p>
            <a:pPr algn="ctr">
              <a:lnSpc>
                <a:spcPts val="6249"/>
              </a:lnSpc>
            </a:pPr>
            <a:r>
              <a:rPr lang="en-US" sz="4999" b="true">
                <a:solidFill>
                  <a:srgbClr val="403011"/>
                </a:solidFill>
                <a:latin typeface="Arimo Bold"/>
                <a:ea typeface="Arimo Bold"/>
                <a:cs typeface="Arimo Bold"/>
                <a:sym typeface="Arimo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DAHE9QKXKAY</dc:identifier>
  <dcterms:modified xsi:type="dcterms:W3CDTF">2011-08-01T06:04:30Z</dcterms:modified>
  <cp:revision>1</cp:revision>
  <dc:title>Dmart Presentation.pptx</dc:title>
</cp:coreProperties>
</file>